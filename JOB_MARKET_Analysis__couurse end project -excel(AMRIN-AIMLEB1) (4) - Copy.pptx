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6" r:id="rId4"/>
  </p:sldMasterIdLst>
  <p:notesMasterIdLst>
    <p:notesMasterId r:id="rId23"/>
  </p:notesMasterIdLst>
  <p:handoutMasterIdLst>
    <p:handoutMasterId r:id="rId24"/>
  </p:handoutMasterIdLst>
  <p:sldIdLst>
    <p:sldId id="256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64" r:id="rId19"/>
    <p:sldId id="281" r:id="rId20"/>
    <p:sldId id="262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6432" autoAdjust="0"/>
  </p:normalViewPr>
  <p:slideViewPr>
    <p:cSldViewPr snapToGrid="0">
      <p:cViewPr varScale="1">
        <p:scale>
          <a:sx n="60" d="100"/>
          <a:sy n="60" d="100"/>
        </p:scale>
        <p:origin x="114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4AB1FE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Liberty Healthcare</c:v>
                </c:pt>
                <c:pt idx="1">
                  <c:v>The Job Network</c:v>
                </c:pt>
                <c:pt idx="2">
                  <c:v>J. Galt</c:v>
                </c:pt>
                <c:pt idx="3">
                  <c:v>TEKsystems</c:v>
                </c:pt>
                <c:pt idx="4">
                  <c:v>Lowe's</c:v>
                </c:pt>
                <c:pt idx="5">
                  <c:v>Capital One</c:v>
                </c:pt>
                <c:pt idx="6">
                  <c:v>Ingersoll Rand</c:v>
                </c:pt>
                <c:pt idx="7">
                  <c:v>Cogent Comm.</c:v>
                </c:pt>
                <c:pt idx="8">
                  <c:v>Insight Global</c:v>
                </c:pt>
                <c:pt idx="9">
                  <c:v>Dice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341</c:v>
                </c:pt>
                <c:pt idx="1">
                  <c:v>318</c:v>
                </c:pt>
                <c:pt idx="2">
                  <c:v>205</c:v>
                </c:pt>
                <c:pt idx="3">
                  <c:v>196</c:v>
                </c:pt>
                <c:pt idx="4">
                  <c:v>174</c:v>
                </c:pt>
                <c:pt idx="5">
                  <c:v>166</c:v>
                </c:pt>
                <c:pt idx="6">
                  <c:v>165</c:v>
                </c:pt>
                <c:pt idx="7">
                  <c:v>155</c:v>
                </c:pt>
                <c:pt idx="8">
                  <c:v>138</c:v>
                </c:pt>
                <c:pt idx="9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1-4D51-9E20-EB1E6A5D783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New York</c:v>
                </c:pt>
                <c:pt idx="1">
                  <c:v>Houston</c:v>
                </c:pt>
                <c:pt idx="2">
                  <c:v>Chicago</c:v>
                </c:pt>
                <c:pt idx="3">
                  <c:v>Dallas</c:v>
                </c:pt>
                <c:pt idx="4">
                  <c:v>Atlanta</c:v>
                </c:pt>
                <c:pt idx="5">
                  <c:v>Phoenix</c:v>
                </c:pt>
                <c:pt idx="6">
                  <c:v>Boston</c:v>
                </c:pt>
                <c:pt idx="7">
                  <c:v>Charlotte</c:v>
                </c:pt>
                <c:pt idx="8">
                  <c:v>Austin</c:v>
                </c:pt>
                <c:pt idx="9">
                  <c:v>Los Angeles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866</c:v>
                </c:pt>
                <c:pt idx="1">
                  <c:v>565</c:v>
                </c:pt>
                <c:pt idx="2">
                  <c:v>565</c:v>
                </c:pt>
                <c:pt idx="3">
                  <c:v>457</c:v>
                </c:pt>
                <c:pt idx="4">
                  <c:v>438</c:v>
                </c:pt>
                <c:pt idx="5">
                  <c:v>367</c:v>
                </c:pt>
                <c:pt idx="6">
                  <c:v>365</c:v>
                </c:pt>
                <c:pt idx="7">
                  <c:v>353</c:v>
                </c:pt>
                <c:pt idx="8">
                  <c:v>344</c:v>
                </c:pt>
                <c:pt idx="9">
                  <c:v>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61-4A6A-9B86-4E69CF557F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9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Internship</c:v>
                </c:pt>
                <c:pt idx="1">
                  <c:v>Entry</c:v>
                </c:pt>
                <c:pt idx="2">
                  <c:v>Associate</c:v>
                </c:pt>
                <c:pt idx="3">
                  <c:v>Mid-Senior</c:v>
                </c:pt>
                <c:pt idx="4">
                  <c:v>Director</c:v>
                </c:pt>
                <c:pt idx="5">
                  <c:v>Executive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469</c:v>
                </c:pt>
                <c:pt idx="1">
                  <c:v>11881</c:v>
                </c:pt>
                <c:pt idx="2">
                  <c:v>3204</c:v>
                </c:pt>
                <c:pt idx="3">
                  <c:v>13499</c:v>
                </c:pt>
                <c:pt idx="4">
                  <c:v>1192</c:v>
                </c:pt>
                <c:pt idx="5">
                  <c:v>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4-4A55-AC33-E0ED5C9FC7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Full-time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Mid-Senior</c:v>
                </c:pt>
                <c:pt idx="1">
                  <c:v>Entry</c:v>
                </c:pt>
                <c:pt idx="2">
                  <c:v>Not specified</c:v>
                </c:pt>
                <c:pt idx="3">
                  <c:v>Associate</c:v>
                </c:pt>
                <c:pt idx="4">
                  <c:v>Director</c:v>
                </c:pt>
                <c:pt idx="5">
                  <c:v>Internship</c:v>
                </c:pt>
                <c:pt idx="6">
                  <c:v>Executive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10938</c:v>
                </c:pt>
                <c:pt idx="1">
                  <c:v>9466</c:v>
                </c:pt>
                <c:pt idx="2">
                  <c:v>7319</c:v>
                </c:pt>
                <c:pt idx="3">
                  <c:v>2479</c:v>
                </c:pt>
                <c:pt idx="4">
                  <c:v>1118</c:v>
                </c:pt>
                <c:pt idx="5">
                  <c:v>249</c:v>
                </c:pt>
                <c:pt idx="6">
                  <c:v>370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6F-4EA0-9FD7-4F4F8629F0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Mid-Senior</c:v>
                </c:pt>
                <c:pt idx="1">
                  <c:v>Entry</c:v>
                </c:pt>
                <c:pt idx="2">
                  <c:v>Not specified</c:v>
                </c:pt>
                <c:pt idx="3">
                  <c:v>Associate</c:v>
                </c:pt>
                <c:pt idx="4">
                  <c:v>Director</c:v>
                </c:pt>
                <c:pt idx="5">
                  <c:v>Internship</c:v>
                </c:pt>
                <c:pt idx="6">
                  <c:v>Executive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1649</c:v>
                </c:pt>
                <c:pt idx="1">
                  <c:v>542</c:v>
                </c:pt>
                <c:pt idx="2">
                  <c:v>1162</c:v>
                </c:pt>
                <c:pt idx="3">
                  <c:v>445</c:v>
                </c:pt>
                <c:pt idx="4">
                  <c:v>42</c:v>
                </c:pt>
                <c:pt idx="5">
                  <c:v>2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6F-4EA0-9FD7-4F4F8629F0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Part-time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Mid-Senior</c:v>
                </c:pt>
                <c:pt idx="1">
                  <c:v>Entry</c:v>
                </c:pt>
                <c:pt idx="2">
                  <c:v>Not specified</c:v>
                </c:pt>
                <c:pt idx="3">
                  <c:v>Associate</c:v>
                </c:pt>
                <c:pt idx="4">
                  <c:v>Director</c:v>
                </c:pt>
                <c:pt idx="5">
                  <c:v>Internship</c:v>
                </c:pt>
                <c:pt idx="6">
                  <c:v>Executive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672</c:v>
                </c:pt>
                <c:pt idx="1">
                  <c:v>1660</c:v>
                </c:pt>
                <c:pt idx="2">
                  <c:v>618</c:v>
                </c:pt>
                <c:pt idx="3">
                  <c:v>107</c:v>
                </c:pt>
                <c:pt idx="4">
                  <c:v>23</c:v>
                </c:pt>
                <c:pt idx="5">
                  <c:v>48</c:v>
                </c:pt>
                <c:pt idx="6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6F-4EA0-9FD7-4F4F8629F0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types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Mid-Senior</c:v>
                </c:pt>
                <c:pt idx="1">
                  <c:v>Entry</c:v>
                </c:pt>
                <c:pt idx="2">
                  <c:v>Not specified</c:v>
                </c:pt>
                <c:pt idx="3">
                  <c:v>Associate</c:v>
                </c:pt>
                <c:pt idx="4">
                  <c:v>Director</c:v>
                </c:pt>
                <c:pt idx="5">
                  <c:v>Internship</c:v>
                </c:pt>
                <c:pt idx="6">
                  <c:v>Executive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240</c:v>
                </c:pt>
                <c:pt idx="1">
                  <c:v>213</c:v>
                </c:pt>
                <c:pt idx="2">
                  <c:v>261</c:v>
                </c:pt>
                <c:pt idx="3">
                  <c:v>173</c:v>
                </c:pt>
                <c:pt idx="4">
                  <c:v>9</c:v>
                </c:pt>
                <c:pt idx="5">
                  <c:v>170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D6F-4EA0-9FD7-4F4F8629F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0"/>
        <c:axPos val="t"/>
        <c:majorGridlines>
          <c:spPr>
            <a:ln>
              <a:solidFill>
                <a:srgbClr val="2B4A7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F26B7A"/>
            </a:solidFill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BigLaw Partner (1)</c:v>
                </c:pt>
                <c:pt idx="1">
                  <c:v>BigLaw Partner (2)</c:v>
                </c:pt>
                <c:pt idx="2">
                  <c:v>Oral Surgeon</c:v>
                </c:pt>
                <c:pt idx="3">
                  <c:v>CISO</c:v>
                </c:pt>
                <c:pt idx="4">
                  <c:v>Dermatologist</c:v>
                </c:pt>
                <c:pt idx="5">
                  <c:v>VP Client Relations</c:v>
                </c:pt>
                <c:pt idx="6">
                  <c:v>SEVP of Retail</c:v>
                </c:pt>
                <c:pt idx="7">
                  <c:v>Quant Researcher</c:v>
                </c:pt>
                <c:pt idx="8">
                  <c:v>Forensic Acct. Partner</c:v>
                </c:pt>
                <c:pt idx="9">
                  <c:v>Dental Territory Sales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925000</c:v>
                </c:pt>
                <c:pt idx="1">
                  <c:v>925000</c:v>
                </c:pt>
                <c:pt idx="2">
                  <c:v>650000</c:v>
                </c:pt>
                <c:pt idx="3">
                  <c:v>631800</c:v>
                </c:pt>
                <c:pt idx="4">
                  <c:v>557500</c:v>
                </c:pt>
                <c:pt idx="5">
                  <c:v>550000.5</c:v>
                </c:pt>
                <c:pt idx="6">
                  <c:v>550000</c:v>
                </c:pt>
                <c:pt idx="7">
                  <c:v>550000</c:v>
                </c:pt>
                <c:pt idx="8">
                  <c:v>525000</c:v>
                </c:pt>
                <c:pt idx="9">
                  <c:v>515000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F5-49BF-9A2A-7620009999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dLbls>
            <c:numFmt formatCode="\$#,##0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Orange Park</c:v>
                </c:pt>
                <c:pt idx="1">
                  <c:v>Wheeling</c:v>
                </c:pt>
                <c:pt idx="2">
                  <c:v>Palm Springs</c:v>
                </c:pt>
                <c:pt idx="3">
                  <c:v>Baldwin Park</c:v>
                </c:pt>
                <c:pt idx="4">
                  <c:v>John Day</c:v>
                </c:pt>
                <c:pt idx="5">
                  <c:v>Phoenix Metro</c:v>
                </c:pt>
                <c:pt idx="6">
                  <c:v>West Virginia</c:v>
                </c:pt>
                <c:pt idx="7">
                  <c:v>Akron</c:v>
                </c:pt>
                <c:pt idx="8">
                  <c:v>Maplewood</c:v>
                </c:pt>
                <c:pt idx="9">
                  <c:v>Morgantown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700000</c:v>
                </c:pt>
                <c:pt idx="1">
                  <c:v>460000</c:v>
                </c:pt>
                <c:pt idx="2">
                  <c:v>450000</c:v>
                </c:pt>
                <c:pt idx="3">
                  <c:v>372431</c:v>
                </c:pt>
                <c:pt idx="4">
                  <c:v>350000</c:v>
                </c:pt>
                <c:pt idx="5">
                  <c:v>340000</c:v>
                </c:pt>
                <c:pt idx="6">
                  <c:v>327600</c:v>
                </c:pt>
                <c:pt idx="7">
                  <c:v>304750</c:v>
                </c:pt>
                <c:pt idx="8">
                  <c:v>300000</c:v>
                </c:pt>
                <c:pt idx="9">
                  <c:v>290000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9-4339-A894-BC44991137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9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 types</c:v>
                </c:pt>
                <c:pt idx="4">
                  <c:v>Total remote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3577</c:v>
                </c:pt>
                <c:pt idx="2">
                  <c:v>4560</c:v>
                </c:pt>
                <c:pt idx="3">
                  <c:v>4739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17-46F1-A217-E7BD83ECDE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Added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 types</c:v>
                </c:pt>
                <c:pt idx="4">
                  <c:v>Total remote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3577</c:v>
                </c:pt>
                <c:pt idx="1">
                  <c:v>983</c:v>
                </c:pt>
                <c:pt idx="2">
                  <c:v>179</c:v>
                </c:pt>
                <c:pt idx="3">
                  <c:v>153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17-46F1-A217-E7BD83ECDE1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 types</c:v>
                </c:pt>
                <c:pt idx="4">
                  <c:v>Total remote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17-46F1-A217-E7BD83ECDE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1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Full-time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4089</c:v>
                </c:pt>
                <c:pt idx="1">
                  <c:v>2914</c:v>
                </c:pt>
                <c:pt idx="2">
                  <c:v>2912</c:v>
                </c:pt>
                <c:pt idx="3">
                  <c:v>2226</c:v>
                </c:pt>
                <c:pt idx="4">
                  <c:v>1723</c:v>
                </c:pt>
                <c:pt idx="5">
                  <c:v>1354</c:v>
                </c:pt>
                <c:pt idx="6">
                  <c:v>1439</c:v>
                </c:pt>
                <c:pt idx="7">
                  <c:v>803</c:v>
                </c:pt>
                <c:pt idx="8">
                  <c:v>528</c:v>
                </c:pt>
                <c:pt idx="9">
                  <c:v>417</c:v>
                </c:pt>
                <c:pt idx="10">
                  <c:v>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43-45A4-8838-E3A4D2160E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488</c:v>
                </c:pt>
                <c:pt idx="1">
                  <c:v>420</c:v>
                </c:pt>
                <c:pt idx="2">
                  <c:v>106</c:v>
                </c:pt>
                <c:pt idx="3">
                  <c:v>194</c:v>
                </c:pt>
                <c:pt idx="4">
                  <c:v>763</c:v>
                </c:pt>
                <c:pt idx="5">
                  <c:v>75</c:v>
                </c:pt>
                <c:pt idx="6">
                  <c:v>126</c:v>
                </c:pt>
                <c:pt idx="7">
                  <c:v>105</c:v>
                </c:pt>
                <c:pt idx="8">
                  <c:v>39</c:v>
                </c:pt>
                <c:pt idx="9">
                  <c:v>18</c:v>
                </c:pt>
                <c:pt idx="10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43-45A4-8838-E3A4D2160E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Part-time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122</c:v>
                </c:pt>
                <c:pt idx="1">
                  <c:v>407</c:v>
                </c:pt>
                <c:pt idx="2">
                  <c:v>585</c:v>
                </c:pt>
                <c:pt idx="3">
                  <c:v>180</c:v>
                </c:pt>
                <c:pt idx="4">
                  <c:v>16</c:v>
                </c:pt>
                <c:pt idx="5">
                  <c:v>196</c:v>
                </c:pt>
                <c:pt idx="6">
                  <c:v>38</c:v>
                </c:pt>
                <c:pt idx="7">
                  <c:v>46</c:v>
                </c:pt>
                <c:pt idx="8">
                  <c:v>20</c:v>
                </c:pt>
                <c:pt idx="9">
                  <c:v>72</c:v>
                </c:pt>
                <c:pt idx="1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43-45A4-8838-E3A4D2160E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types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65</c:v>
                </c:pt>
                <c:pt idx="1">
                  <c:v>77</c:v>
                </c:pt>
                <c:pt idx="2">
                  <c:v>92</c:v>
                </c:pt>
                <c:pt idx="3">
                  <c:v>39</c:v>
                </c:pt>
                <c:pt idx="4">
                  <c:v>54</c:v>
                </c:pt>
                <c:pt idx="5">
                  <c:v>53</c:v>
                </c:pt>
                <c:pt idx="6">
                  <c:v>25</c:v>
                </c:pt>
                <c:pt idx="7">
                  <c:v>66</c:v>
                </c:pt>
                <c:pt idx="8">
                  <c:v>11</c:v>
                </c:pt>
                <c:pt idx="9">
                  <c:v>16</c:v>
                </c:pt>
                <c:pt idx="1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43-45A4-8838-E3A4D2160E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Entry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1972</c:v>
                </c:pt>
                <c:pt idx="1">
                  <c:v>1249</c:v>
                </c:pt>
                <c:pt idx="2">
                  <c:v>1203</c:v>
                </c:pt>
                <c:pt idx="3">
                  <c:v>859</c:v>
                </c:pt>
                <c:pt idx="4">
                  <c:v>400</c:v>
                </c:pt>
                <c:pt idx="5">
                  <c:v>714</c:v>
                </c:pt>
                <c:pt idx="6">
                  <c:v>262</c:v>
                </c:pt>
                <c:pt idx="7">
                  <c:v>204</c:v>
                </c:pt>
                <c:pt idx="8">
                  <c:v>81</c:v>
                </c:pt>
                <c:pt idx="9">
                  <c:v>229</c:v>
                </c:pt>
                <c:pt idx="10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F1-43AB-B278-A1C7275569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Mid-Senior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1379</c:v>
                </c:pt>
                <c:pt idx="1">
                  <c:v>1238</c:v>
                </c:pt>
                <c:pt idx="2">
                  <c:v>1174</c:v>
                </c:pt>
                <c:pt idx="3">
                  <c:v>906</c:v>
                </c:pt>
                <c:pt idx="4">
                  <c:v>1113</c:v>
                </c:pt>
                <c:pt idx="5">
                  <c:v>436</c:v>
                </c:pt>
                <c:pt idx="6">
                  <c:v>669</c:v>
                </c:pt>
                <c:pt idx="7">
                  <c:v>298</c:v>
                </c:pt>
                <c:pt idx="8">
                  <c:v>173</c:v>
                </c:pt>
                <c:pt idx="9">
                  <c:v>99</c:v>
                </c:pt>
                <c:pt idx="10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F1-43AB-B278-A1C7275569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Associate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376</c:v>
                </c:pt>
                <c:pt idx="1">
                  <c:v>147</c:v>
                </c:pt>
                <c:pt idx="2">
                  <c:v>339</c:v>
                </c:pt>
                <c:pt idx="3">
                  <c:v>167</c:v>
                </c:pt>
                <c:pt idx="4">
                  <c:v>142</c:v>
                </c:pt>
                <c:pt idx="5">
                  <c:v>121</c:v>
                </c:pt>
                <c:pt idx="6">
                  <c:v>227</c:v>
                </c:pt>
                <c:pt idx="7">
                  <c:v>76</c:v>
                </c:pt>
                <c:pt idx="8">
                  <c:v>114</c:v>
                </c:pt>
                <c:pt idx="9">
                  <c:v>38</c:v>
                </c:pt>
                <c:pt idx="10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F1-43AB-B278-A1C72755690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specified</c:v>
                </c:pt>
              </c:strCache>
            </c:strRef>
          </c:tx>
          <c:spPr>
            <a:solidFill>
              <a:srgbClr val="9FB3C8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878</c:v>
                </c:pt>
                <c:pt idx="1">
                  <c:v>1072</c:v>
                </c:pt>
                <c:pt idx="2">
                  <c:v>829</c:v>
                </c:pt>
                <c:pt idx="3">
                  <c:v>589</c:v>
                </c:pt>
                <c:pt idx="4">
                  <c:v>802</c:v>
                </c:pt>
                <c:pt idx="5">
                  <c:v>373</c:v>
                </c:pt>
                <c:pt idx="6">
                  <c:v>337</c:v>
                </c:pt>
                <c:pt idx="7">
                  <c:v>313</c:v>
                </c:pt>
                <c:pt idx="8">
                  <c:v>206</c:v>
                </c:pt>
                <c:pt idx="9">
                  <c:v>137</c:v>
                </c:pt>
                <c:pt idx="1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1F1-43AB-B278-A1C72755690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Dir./Exec./Intern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159</c:v>
                </c:pt>
                <c:pt idx="1">
                  <c:v>112</c:v>
                </c:pt>
                <c:pt idx="2">
                  <c:v>150</c:v>
                </c:pt>
                <c:pt idx="3">
                  <c:v>118</c:v>
                </c:pt>
                <c:pt idx="4">
                  <c:v>99</c:v>
                </c:pt>
                <c:pt idx="5">
                  <c:v>34</c:v>
                </c:pt>
                <c:pt idx="6">
                  <c:v>133</c:v>
                </c:pt>
                <c:pt idx="7">
                  <c:v>129</c:v>
                </c:pt>
                <c:pt idx="8">
                  <c:v>24</c:v>
                </c:pt>
                <c:pt idx="9">
                  <c:v>20</c:v>
                </c:pt>
                <c:pt idx="10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1F1-43AB-B278-A1C7275569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families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4AB1FE"/>
              </a:solidFill>
              <a:ln>
                <a:solidFill>
                  <a:srgbClr val="EAF2FB"/>
                </a:solidFill>
              </a:ln>
            </c:spPr>
          </c:marker>
          <c:dPt>
            <c:idx val="4"/>
            <c:marker>
              <c:symbol val="circle"/>
              <c:size val="12"/>
              <c:spPr>
                <a:solidFill>
                  <a:srgbClr val="F2A541"/>
                </a:solidFill>
                <a:ln>
                  <a:solidFill>
                    <a:srgbClr val="EAF2FB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FF03-4208-BABE-D7ECBF13A3B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Eng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F03-4208-BABE-D7ECBF13A3B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Health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F03-4208-BABE-D7ECBF13A3B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Sales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F03-4208-BABE-D7ECBF13A3B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Ops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F03-4208-BABE-D7ECBF13A3B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EAF2FB"/>
                        </a:solidFill>
                      </a:rPr>
                      <a:t>Tech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F03-4208-BABE-D7ECBF13A3B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Admin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03-4208-BABE-D7ECBF13A3B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Fin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F03-4208-BABE-D7ECBF13A3B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Mktg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F03-4208-BABE-D7ECBF13A3B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Legal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F03-4208-BABE-D7ECBF13A3B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Edu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F03-4208-BABE-D7ECBF13A3B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1000" b="0">
                        <a:solidFill>
                          <a:srgbClr val="EAF2FB"/>
                        </a:solidFill>
                      </a:rPr>
                      <a:t>HR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F03-4208-BABE-D7ECBF13A3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xVal>
            <c:numRef>
              <c:f>Sheet1!$A$2:$A$12</c:f>
              <c:numCache>
                <c:formatCode>General</c:formatCode>
                <c:ptCount val="11"/>
                <c:pt idx="0">
                  <c:v>49.6</c:v>
                </c:pt>
                <c:pt idx="1">
                  <c:v>24.2</c:v>
                </c:pt>
                <c:pt idx="2">
                  <c:v>42.1</c:v>
                </c:pt>
                <c:pt idx="3">
                  <c:v>38.299999999999997</c:v>
                </c:pt>
                <c:pt idx="4">
                  <c:v>83.5</c:v>
                </c:pt>
                <c:pt idx="5">
                  <c:v>32</c:v>
                </c:pt>
                <c:pt idx="6">
                  <c:v>21.9</c:v>
                </c:pt>
                <c:pt idx="7">
                  <c:v>33.5</c:v>
                </c:pt>
                <c:pt idx="8">
                  <c:v>6.7</c:v>
                </c:pt>
                <c:pt idx="9">
                  <c:v>3.2</c:v>
                </c:pt>
                <c:pt idx="10">
                  <c:v>13.6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6.9</c:v>
                </c:pt>
                <c:pt idx="1">
                  <c:v>1.2</c:v>
                </c:pt>
                <c:pt idx="2">
                  <c:v>4.8</c:v>
                </c:pt>
                <c:pt idx="3">
                  <c:v>4</c:v>
                </c:pt>
                <c:pt idx="4">
                  <c:v>21.4</c:v>
                </c:pt>
                <c:pt idx="5">
                  <c:v>3</c:v>
                </c:pt>
                <c:pt idx="6">
                  <c:v>3.1</c:v>
                </c:pt>
                <c:pt idx="7">
                  <c:v>4.7</c:v>
                </c:pt>
                <c:pt idx="8">
                  <c:v>0.5</c:v>
                </c:pt>
                <c:pt idx="9">
                  <c:v>0.1</c:v>
                </c:pt>
                <c:pt idx="10">
                  <c:v>2.7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FF03-4208-BABE-D7ECBF13A3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in val="0"/>
        </c:scaling>
        <c:delete val="0"/>
        <c:axPos val="b"/>
        <c:majorGridlines>
          <c:spPr>
            <a:ln>
              <a:solidFill>
                <a:srgbClr val="2B4A7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5BC0EB"/>
                    </a:solidFill>
                  </a:rPr>
                  <a:t>Views (thousands)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2B4A7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000" b="0">
                    <a:solidFill>
                      <a:srgbClr val="5BC0EB"/>
                    </a:solidFill>
                  </a:rPr>
                  <a:t>Applications (thousands)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Applies per 100 views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E6-499E-ADB2-A4E0E17A6EF9}"/>
              </c:ext>
            </c:extLst>
          </c:dPt>
          <c:dPt>
            <c:idx val="1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3-E1E6-499E-ADB2-A4E0E17A6EF9}"/>
              </c:ext>
            </c:extLst>
          </c:dPt>
          <c:dPt>
            <c:idx val="2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5-E1E6-499E-ADB2-A4E0E17A6EF9}"/>
              </c:ext>
            </c:extLst>
          </c:dPt>
          <c:dPt>
            <c:idx val="3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7-E1E6-499E-ADB2-A4E0E17A6EF9}"/>
              </c:ext>
            </c:extLst>
          </c:dPt>
          <c:dPt>
            <c:idx val="4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9-E1E6-499E-ADB2-A4E0E17A6EF9}"/>
              </c:ext>
            </c:extLst>
          </c:dPt>
          <c:dPt>
            <c:idx val="5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B-E1E6-499E-ADB2-A4E0E17A6EF9}"/>
              </c:ext>
            </c:extLst>
          </c:dPt>
          <c:dPt>
            <c:idx val="6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D-E1E6-499E-ADB2-A4E0E17A6EF9}"/>
              </c:ext>
            </c:extLst>
          </c:dPt>
          <c:dPt>
            <c:idx val="7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F-E1E6-499E-ADB2-A4E0E17A6EF9}"/>
              </c:ext>
            </c:extLst>
          </c:dPt>
          <c:dPt>
            <c:idx val="8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11-E1E6-499E-ADB2-A4E0E17A6EF9}"/>
              </c:ext>
            </c:extLst>
          </c:dPt>
          <c:dPt>
            <c:idx val="9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13-E1E6-499E-ADB2-A4E0E17A6EF9}"/>
              </c:ext>
            </c:extLst>
          </c:dPt>
          <c:dPt>
            <c:idx val="10"/>
            <c:invertIfNegative val="0"/>
            <c:bubble3D val="0"/>
            <c:spPr>
              <a:solidFill>
                <a:srgbClr val="F26B7A"/>
              </a:solidFill>
            </c:spPr>
            <c:extLst>
              <c:ext xmlns:c16="http://schemas.microsoft.com/office/drawing/2014/chart" uri="{C3380CC4-5D6E-409C-BE32-E72D297353CC}">
                <c16:uniqueId val="{00000015-E1E6-499E-ADB2-A4E0E17A6EF9}"/>
              </c:ext>
            </c:extLst>
          </c:dPt>
          <c:dPt>
            <c:idx val="11"/>
            <c:invertIfNegative val="0"/>
            <c:bubble3D val="0"/>
            <c:spPr>
              <a:solidFill>
                <a:srgbClr val="F26B7A"/>
              </a:solidFill>
            </c:spPr>
            <c:extLst>
              <c:ext xmlns:c16="http://schemas.microsoft.com/office/drawing/2014/chart" uri="{C3380CC4-5D6E-409C-BE32-E72D297353CC}">
                <c16:uniqueId val="{00000017-E1E6-499E-ADB2-A4E0E17A6EF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Technology &amp; Data</c:v>
                </c:pt>
                <c:pt idx="1">
                  <c:v>Human Resources</c:v>
                </c:pt>
                <c:pt idx="2">
                  <c:v>Finance &amp; Accounting</c:v>
                </c:pt>
                <c:pt idx="3">
                  <c:v>Marketing &amp; Comm.</c:v>
                </c:pt>
                <c:pt idx="4">
                  <c:v>Engineering &amp; Tech</c:v>
                </c:pt>
                <c:pt idx="5">
                  <c:v>Other (unclassified)</c:v>
                </c:pt>
                <c:pt idx="6">
                  <c:v>Sales &amp; Cust. Service</c:v>
                </c:pt>
                <c:pt idx="7">
                  <c:v>Operations &amp; Logistics</c:v>
                </c:pt>
                <c:pt idx="8">
                  <c:v>Administration</c:v>
                </c:pt>
                <c:pt idx="9">
                  <c:v>Legal</c:v>
                </c:pt>
                <c:pt idx="10">
                  <c:v>Healthcare</c:v>
                </c:pt>
                <c:pt idx="11">
                  <c:v>Education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25.7</c:v>
                </c:pt>
                <c:pt idx="1">
                  <c:v>19.899999999999999</c:v>
                </c:pt>
                <c:pt idx="2">
                  <c:v>14.3</c:v>
                </c:pt>
                <c:pt idx="3">
                  <c:v>14.1</c:v>
                </c:pt>
                <c:pt idx="4">
                  <c:v>13.8</c:v>
                </c:pt>
                <c:pt idx="5">
                  <c:v>12.1</c:v>
                </c:pt>
                <c:pt idx="6">
                  <c:v>11.4</c:v>
                </c:pt>
                <c:pt idx="7">
                  <c:v>10.4</c:v>
                </c:pt>
                <c:pt idx="8">
                  <c:v>9.1999999999999993</c:v>
                </c:pt>
                <c:pt idx="9">
                  <c:v>7</c:v>
                </c:pt>
                <c:pt idx="10">
                  <c:v>5</c:v>
                </c:pt>
                <c:pt idx="11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1E6-499E-ADB2-A4E0E17A6E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10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5C86FF"/>
              </a:solidFill>
              <a:ln>
                <a:solidFill>
                  <a:srgbClr val="0E2E5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766-4AB4-B39D-E2D362860CFD}"/>
              </c:ext>
            </c:extLst>
          </c:dPt>
          <c:dPt>
            <c:idx val="1"/>
            <c:bubble3D val="0"/>
            <c:spPr>
              <a:solidFill>
                <a:srgbClr val="00C4B6"/>
              </a:solidFill>
              <a:ln>
                <a:solidFill>
                  <a:srgbClr val="0E2E5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766-4AB4-B39D-E2D362860CFD}"/>
              </c:ext>
            </c:extLst>
          </c:dPt>
          <c:dPt>
            <c:idx val="2"/>
            <c:bubble3D val="0"/>
            <c:spPr>
              <a:solidFill>
                <a:srgbClr val="F2A541"/>
              </a:solidFill>
              <a:ln>
                <a:solidFill>
                  <a:srgbClr val="0E2E5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766-4AB4-B39D-E2D362860CFD}"/>
              </c:ext>
            </c:extLst>
          </c:dPt>
          <c:dPt>
            <c:idx val="3"/>
            <c:bubble3D val="0"/>
            <c:spPr>
              <a:solidFill>
                <a:srgbClr val="B56CF0"/>
              </a:solidFill>
              <a:ln>
                <a:solidFill>
                  <a:srgbClr val="0E2E5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766-4AB4-B39D-E2D362860C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 types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31939</c:v>
                </c:pt>
                <c:pt idx="1">
                  <c:v>3850</c:v>
                </c:pt>
                <c:pt idx="2">
                  <c:v>3142</c:v>
                </c:pt>
                <c:pt idx="3">
                  <c:v>1069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766-4AB4-B39D-E2D362860CFD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12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4AB1F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Other</c:v>
                </c:pt>
                <c:pt idx="1">
                  <c:v>Engineering</c:v>
                </c:pt>
                <c:pt idx="2">
                  <c:v>Healthcare</c:v>
                </c:pt>
                <c:pt idx="3">
                  <c:v>Sales</c:v>
                </c:pt>
                <c:pt idx="4">
                  <c:v>Operations</c:v>
                </c:pt>
                <c:pt idx="5">
                  <c:v>Tech &amp; Data</c:v>
                </c:pt>
                <c:pt idx="6">
                  <c:v>Admin</c:v>
                </c:pt>
                <c:pt idx="7">
                  <c:v>Finance</c:v>
                </c:pt>
                <c:pt idx="8">
                  <c:v>Marketing</c:v>
                </c:pt>
                <c:pt idx="9">
                  <c:v>Legal</c:v>
                </c:pt>
                <c:pt idx="10">
                  <c:v>Education</c:v>
                </c:pt>
                <c:pt idx="11">
                  <c:v>HR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16598</c:v>
                </c:pt>
                <c:pt idx="1">
                  <c:v>4764</c:v>
                </c:pt>
                <c:pt idx="2">
                  <c:v>3818</c:v>
                </c:pt>
                <c:pt idx="3">
                  <c:v>3695</c:v>
                </c:pt>
                <c:pt idx="4">
                  <c:v>2639</c:v>
                </c:pt>
                <c:pt idx="5">
                  <c:v>2556</c:v>
                </c:pt>
                <c:pt idx="6">
                  <c:v>1678</c:v>
                </c:pt>
                <c:pt idx="7">
                  <c:v>1628</c:v>
                </c:pt>
                <c:pt idx="8">
                  <c:v>1020</c:v>
                </c:pt>
                <c:pt idx="9">
                  <c:v>598</c:v>
                </c:pt>
                <c:pt idx="10">
                  <c:v>523</c:v>
                </c:pt>
                <c:pt idx="11">
                  <c:v>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35-4AC8-B04F-3BEB25001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ln w="31750" cap="rnd">
              <a:solidFill>
                <a:srgbClr val="F2A541"/>
              </a:solidFill>
              <a:round/>
            </a:ln>
          </c:spPr>
          <c:marker>
            <c:symbol val="circle"/>
            <c:size val="7"/>
            <c:spPr>
              <a:solidFill>
                <a:srgbClr val="F2A541"/>
              </a:solidFill>
              <a:ln w="9525">
                <a:solidFill>
                  <a:srgbClr val="EAF2FB"/>
                </a:solidFill>
              </a:ln>
            </c:spPr>
          </c:marker>
          <c:dLbls>
            <c:numFmt formatCode="0%" sourceLinked="0"/>
            <c:spPr>
              <a:solidFill>
                <a:srgbClr val="0E2E57"/>
              </a:solidFill>
              <a:ln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rgbClr val="F2A541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Other</c:v>
                </c:pt>
                <c:pt idx="1">
                  <c:v>Engineering</c:v>
                </c:pt>
                <c:pt idx="2">
                  <c:v>Healthcare</c:v>
                </c:pt>
                <c:pt idx="3">
                  <c:v>Sales</c:v>
                </c:pt>
                <c:pt idx="4">
                  <c:v>Operations</c:v>
                </c:pt>
                <c:pt idx="5">
                  <c:v>Tech &amp; Data</c:v>
                </c:pt>
                <c:pt idx="6">
                  <c:v>Admin</c:v>
                </c:pt>
                <c:pt idx="7">
                  <c:v>Finance</c:v>
                </c:pt>
                <c:pt idx="8">
                  <c:v>Marketing</c:v>
                </c:pt>
                <c:pt idx="9">
                  <c:v>Legal</c:v>
                </c:pt>
                <c:pt idx="10">
                  <c:v>Education</c:v>
                </c:pt>
                <c:pt idx="11">
                  <c:v>HR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0.41489999999999999</c:v>
                </c:pt>
                <c:pt idx="1">
                  <c:v>0.53410000000000002</c:v>
                </c:pt>
                <c:pt idx="2">
                  <c:v>0.62949999999999995</c:v>
                </c:pt>
                <c:pt idx="3">
                  <c:v>0.72189999999999999</c:v>
                </c:pt>
                <c:pt idx="4">
                  <c:v>0.78790000000000004</c:v>
                </c:pt>
                <c:pt idx="5">
                  <c:v>0.8518</c:v>
                </c:pt>
                <c:pt idx="6">
                  <c:v>0.89370000000000005</c:v>
                </c:pt>
                <c:pt idx="7">
                  <c:v>0.93440000000000001</c:v>
                </c:pt>
                <c:pt idx="8">
                  <c:v>0.95989999999999998</c:v>
                </c:pt>
                <c:pt idx="9">
                  <c:v>0.9748</c:v>
                </c:pt>
                <c:pt idx="10">
                  <c:v>0.9879</c:v>
                </c:pt>
                <c:pt idx="1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35-4AC8-B04F-3BEB25001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10"/>
        <c:axId val="5002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9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2B4A75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EAF2F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  <c:catAx>
        <c:axId val="5001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900">
                <a:solidFill>
                  <a:srgbClr val="F2A541"/>
                </a:solidFill>
              </a:defRPr>
            </a:pPr>
            <a:endParaRPr lang="en-US"/>
          </a:p>
        </c:txPr>
        <c:crossAx val="50010"/>
        <c:crosses val="max"/>
        <c:crossBetween val="between"/>
        <c:majorUnit val="0.2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9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Intern</c:v>
                </c:pt>
                <c:pt idx="1">
                  <c:v>Entry</c:v>
                </c:pt>
                <c:pt idx="2">
                  <c:v>Assoc.</c:v>
                </c:pt>
                <c:pt idx="3">
                  <c:v>Mid-Sr</c:v>
                </c:pt>
                <c:pt idx="4">
                  <c:v>Director</c:v>
                </c:pt>
                <c:pt idx="5">
                  <c:v>Exec.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469</c:v>
                </c:pt>
                <c:pt idx="1">
                  <c:v>11881</c:v>
                </c:pt>
                <c:pt idx="2">
                  <c:v>3204</c:v>
                </c:pt>
                <c:pt idx="3">
                  <c:v>13499</c:v>
                </c:pt>
                <c:pt idx="4">
                  <c:v>1192</c:v>
                </c:pt>
                <c:pt idx="5">
                  <c:v>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07-4D4F-96FC-4326DC27C5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8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New York</c:v>
                </c:pt>
                <c:pt idx="1">
                  <c:v>Houston</c:v>
                </c:pt>
                <c:pt idx="2">
                  <c:v>Chicago</c:v>
                </c:pt>
                <c:pt idx="3">
                  <c:v>Dallas</c:v>
                </c:pt>
                <c:pt idx="4">
                  <c:v>Atlanta</c:v>
                </c:pt>
                <c:pt idx="5">
                  <c:v>Phoenix</c:v>
                </c:pt>
                <c:pt idx="6">
                  <c:v>Boston</c:v>
                </c:pt>
                <c:pt idx="7">
                  <c:v>Charlotte</c:v>
                </c:pt>
                <c:pt idx="8">
                  <c:v>Austin</c:v>
                </c:pt>
                <c:pt idx="9">
                  <c:v>Los Angeles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866</c:v>
                </c:pt>
                <c:pt idx="1">
                  <c:v>565</c:v>
                </c:pt>
                <c:pt idx="2">
                  <c:v>565</c:v>
                </c:pt>
                <c:pt idx="3">
                  <c:v>457</c:v>
                </c:pt>
                <c:pt idx="4">
                  <c:v>438</c:v>
                </c:pt>
                <c:pt idx="5">
                  <c:v>367</c:v>
                </c:pt>
                <c:pt idx="6">
                  <c:v>365</c:v>
                </c:pt>
                <c:pt idx="7">
                  <c:v>353</c:v>
                </c:pt>
                <c:pt idx="8">
                  <c:v>344</c:v>
                </c:pt>
                <c:pt idx="9">
                  <c:v>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8D-457A-9801-C42E3EFD02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3577</c:v>
                </c:pt>
                <c:pt idx="2">
                  <c:v>4560</c:v>
                </c:pt>
                <c:pt idx="3">
                  <c:v>4739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3-4336-98C1-AE14CE77EF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Added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</c:v>
                </c:pt>
                <c:pt idx="4">
                  <c:v>Total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3577</c:v>
                </c:pt>
                <c:pt idx="1">
                  <c:v>983</c:v>
                </c:pt>
                <c:pt idx="2">
                  <c:v>179</c:v>
                </c:pt>
                <c:pt idx="3">
                  <c:v>153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3-4336-98C1-AE14CE77EF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Full-time</c:v>
                </c:pt>
                <c:pt idx="1">
                  <c:v>Contract</c:v>
                </c:pt>
                <c:pt idx="2">
                  <c:v>Part-time</c:v>
                </c:pt>
                <c:pt idx="3">
                  <c:v>Other</c:v>
                </c:pt>
                <c:pt idx="4">
                  <c:v>Total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13-4336-98C1-AE14CE77EF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8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Full-time</c:v>
                </c:pt>
              </c:strCache>
            </c:strRef>
          </c:tx>
          <c:spPr>
            <a:solidFill>
              <a:srgbClr val="5C86FF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4089</c:v>
                </c:pt>
                <c:pt idx="1">
                  <c:v>2914</c:v>
                </c:pt>
                <c:pt idx="2">
                  <c:v>2912</c:v>
                </c:pt>
                <c:pt idx="3">
                  <c:v>2226</c:v>
                </c:pt>
                <c:pt idx="4">
                  <c:v>1723</c:v>
                </c:pt>
                <c:pt idx="5">
                  <c:v>1354</c:v>
                </c:pt>
                <c:pt idx="6">
                  <c:v>1439</c:v>
                </c:pt>
                <c:pt idx="7">
                  <c:v>803</c:v>
                </c:pt>
                <c:pt idx="8">
                  <c:v>528</c:v>
                </c:pt>
                <c:pt idx="9">
                  <c:v>417</c:v>
                </c:pt>
                <c:pt idx="10">
                  <c:v>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54-4A76-8215-93A9CF2FC9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488</c:v>
                </c:pt>
                <c:pt idx="1">
                  <c:v>420</c:v>
                </c:pt>
                <c:pt idx="2">
                  <c:v>106</c:v>
                </c:pt>
                <c:pt idx="3">
                  <c:v>194</c:v>
                </c:pt>
                <c:pt idx="4">
                  <c:v>763</c:v>
                </c:pt>
                <c:pt idx="5">
                  <c:v>75</c:v>
                </c:pt>
                <c:pt idx="6">
                  <c:v>126</c:v>
                </c:pt>
                <c:pt idx="7">
                  <c:v>105</c:v>
                </c:pt>
                <c:pt idx="8">
                  <c:v>39</c:v>
                </c:pt>
                <c:pt idx="9">
                  <c:v>18</c:v>
                </c:pt>
                <c:pt idx="10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54-4A76-8215-93A9CF2FC9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Part-time</c:v>
                </c:pt>
              </c:strCache>
            </c:strRef>
          </c:tx>
          <c:spPr>
            <a:solidFill>
              <a:srgbClr val="F2A541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122</c:v>
                </c:pt>
                <c:pt idx="1">
                  <c:v>407</c:v>
                </c:pt>
                <c:pt idx="2">
                  <c:v>585</c:v>
                </c:pt>
                <c:pt idx="3">
                  <c:v>180</c:v>
                </c:pt>
                <c:pt idx="4">
                  <c:v>16</c:v>
                </c:pt>
                <c:pt idx="5">
                  <c:v>196</c:v>
                </c:pt>
                <c:pt idx="6">
                  <c:v>38</c:v>
                </c:pt>
                <c:pt idx="7">
                  <c:v>46</c:v>
                </c:pt>
                <c:pt idx="8">
                  <c:v>20</c:v>
                </c:pt>
                <c:pt idx="9">
                  <c:v>72</c:v>
                </c:pt>
                <c:pt idx="1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54-4A76-8215-93A9CF2FC96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B56CF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Engineering</c:v>
                </c:pt>
                <c:pt idx="1">
                  <c:v>Healthcare</c:v>
                </c:pt>
                <c:pt idx="2">
                  <c:v>Sales</c:v>
                </c:pt>
                <c:pt idx="3">
                  <c:v>Operations</c:v>
                </c:pt>
                <c:pt idx="4">
                  <c:v>Tech &amp; Data</c:v>
                </c:pt>
                <c:pt idx="5">
                  <c:v>Admin</c:v>
                </c:pt>
                <c:pt idx="6">
                  <c:v>Finance</c:v>
                </c:pt>
                <c:pt idx="7">
                  <c:v>Marketing</c:v>
                </c:pt>
                <c:pt idx="8">
                  <c:v>Legal</c:v>
                </c:pt>
                <c:pt idx="9">
                  <c:v>Education</c:v>
                </c:pt>
                <c:pt idx="10">
                  <c:v>HR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65</c:v>
                </c:pt>
                <c:pt idx="1">
                  <c:v>77</c:v>
                </c:pt>
                <c:pt idx="2">
                  <c:v>92</c:v>
                </c:pt>
                <c:pt idx="3">
                  <c:v>39</c:v>
                </c:pt>
                <c:pt idx="4">
                  <c:v>54</c:v>
                </c:pt>
                <c:pt idx="5">
                  <c:v>53</c:v>
                </c:pt>
                <c:pt idx="6">
                  <c:v>25</c:v>
                </c:pt>
                <c:pt idx="7">
                  <c:v>66</c:v>
                </c:pt>
                <c:pt idx="8">
                  <c:v>11</c:v>
                </c:pt>
                <c:pt idx="9">
                  <c:v>16</c:v>
                </c:pt>
                <c:pt idx="10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54-4A76-8215-93A9CF2FC9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solidFill>
                <a:srgbClr val="EAF2F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7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families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4AB1FE"/>
              </a:solidFill>
              <a:ln>
                <a:solidFill>
                  <a:srgbClr val="EAF2FB"/>
                </a:solidFill>
              </a:ln>
            </c:spPr>
          </c:marker>
          <c:dPt>
            <c:idx val="4"/>
            <c:marker>
              <c:symbol val="circle"/>
              <c:size val="12"/>
              <c:spPr>
                <a:solidFill>
                  <a:srgbClr val="F2A541"/>
                </a:solidFill>
                <a:ln>
                  <a:solidFill>
                    <a:srgbClr val="EAF2FB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F55-44E5-A957-68DC99AE902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Eng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F55-44E5-A957-68DC99AE902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Health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F55-44E5-A957-68DC99AE90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Sales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F55-44E5-A957-68DC99AE902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Ops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F55-44E5-A957-68DC99AE902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00" b="1">
                        <a:solidFill>
                          <a:srgbClr val="EAF2FB"/>
                        </a:solidFill>
                      </a:rPr>
                      <a:t>Tech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F55-44E5-A957-68DC99AE902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Admin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F55-44E5-A957-68DC99AE902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Fin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F55-44E5-A957-68DC99AE902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Mktg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F55-44E5-A957-68DC99AE902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Legal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F55-44E5-A957-68DC99AE902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Edu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F55-44E5-A957-68DC99AE902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00" b="0">
                        <a:solidFill>
                          <a:srgbClr val="EAF2FB"/>
                        </a:solidFill>
                      </a:rPr>
                      <a:t>HR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F55-44E5-A957-68DC99AE902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trendlineType val="linear"/>
            <c:dispRSqr val="0"/>
            <c:dispEq val="0"/>
          </c:trendline>
          <c:xVal>
            <c:numRef>
              <c:f>Sheet1!$A$2:$A$12</c:f>
              <c:numCache>
                <c:formatCode>General</c:formatCode>
                <c:ptCount val="11"/>
                <c:pt idx="0">
                  <c:v>49.6</c:v>
                </c:pt>
                <c:pt idx="1">
                  <c:v>24.2</c:v>
                </c:pt>
                <c:pt idx="2">
                  <c:v>42.1</c:v>
                </c:pt>
                <c:pt idx="3">
                  <c:v>38.299999999999997</c:v>
                </c:pt>
                <c:pt idx="4">
                  <c:v>83.5</c:v>
                </c:pt>
                <c:pt idx="5">
                  <c:v>32</c:v>
                </c:pt>
                <c:pt idx="6">
                  <c:v>21.9</c:v>
                </c:pt>
                <c:pt idx="7">
                  <c:v>33.5</c:v>
                </c:pt>
                <c:pt idx="8">
                  <c:v>6.7</c:v>
                </c:pt>
                <c:pt idx="9">
                  <c:v>3.2</c:v>
                </c:pt>
                <c:pt idx="10">
                  <c:v>13.6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6.9</c:v>
                </c:pt>
                <c:pt idx="1">
                  <c:v>1.2</c:v>
                </c:pt>
                <c:pt idx="2">
                  <c:v>4.8</c:v>
                </c:pt>
                <c:pt idx="3">
                  <c:v>4</c:v>
                </c:pt>
                <c:pt idx="4">
                  <c:v>21.4</c:v>
                </c:pt>
                <c:pt idx="5">
                  <c:v>3</c:v>
                </c:pt>
                <c:pt idx="6">
                  <c:v>3.1</c:v>
                </c:pt>
                <c:pt idx="7">
                  <c:v>4.7</c:v>
                </c:pt>
                <c:pt idx="8">
                  <c:v>0.5</c:v>
                </c:pt>
                <c:pt idx="9">
                  <c:v>0.1</c:v>
                </c:pt>
                <c:pt idx="10">
                  <c:v>2.7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2F55-44E5-A957-68DC99AE9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in val="0"/>
        </c:scaling>
        <c:delete val="0"/>
        <c:axPos val="b"/>
        <c:majorGridlines>
          <c:spPr>
            <a:ln>
              <a:solidFill>
                <a:srgbClr val="2B4A7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700" b="0">
                    <a:solidFill>
                      <a:srgbClr val="5BC0EB"/>
                    </a:solidFill>
                  </a:rPr>
                  <a:t>Views (K)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2B4A75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700" b="0">
                    <a:solidFill>
                      <a:srgbClr val="5BC0EB"/>
                    </a:solidFill>
                  </a:rPr>
                  <a:t>Applications (K)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7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Applies per 100 views</c:v>
                </c:pt>
              </c:strCache>
            </c:strRef>
          </c:tx>
          <c:spPr>
            <a:solidFill>
              <a:srgbClr val="00C4B6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32-44F1-B3EF-9E105C48BC89}"/>
              </c:ext>
            </c:extLst>
          </c:dPt>
          <c:dPt>
            <c:idx val="1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3-D432-44F1-B3EF-9E105C48BC89}"/>
              </c:ext>
            </c:extLst>
          </c:dPt>
          <c:dPt>
            <c:idx val="2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5-D432-44F1-B3EF-9E105C48BC89}"/>
              </c:ext>
            </c:extLst>
          </c:dPt>
          <c:dPt>
            <c:idx val="3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7-D432-44F1-B3EF-9E105C48BC89}"/>
              </c:ext>
            </c:extLst>
          </c:dPt>
          <c:dPt>
            <c:idx val="4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9-D432-44F1-B3EF-9E105C48BC89}"/>
              </c:ext>
            </c:extLst>
          </c:dPt>
          <c:dPt>
            <c:idx val="5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B-D432-44F1-B3EF-9E105C48BC89}"/>
              </c:ext>
            </c:extLst>
          </c:dPt>
          <c:dPt>
            <c:idx val="6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D-D432-44F1-B3EF-9E105C48BC89}"/>
              </c:ext>
            </c:extLst>
          </c:dPt>
          <c:dPt>
            <c:idx val="7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0F-D432-44F1-B3EF-9E105C48BC89}"/>
              </c:ext>
            </c:extLst>
          </c:dPt>
          <c:dPt>
            <c:idx val="8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11-D432-44F1-B3EF-9E105C48BC89}"/>
              </c:ext>
            </c:extLst>
          </c:dPt>
          <c:dPt>
            <c:idx val="9"/>
            <c:invertIfNegative val="0"/>
            <c:bubble3D val="0"/>
            <c:spPr>
              <a:solidFill>
                <a:srgbClr val="4AB1FE"/>
              </a:solidFill>
            </c:spPr>
            <c:extLst>
              <c:ext xmlns:c16="http://schemas.microsoft.com/office/drawing/2014/chart" uri="{C3380CC4-5D6E-409C-BE32-E72D297353CC}">
                <c16:uniqueId val="{00000013-D432-44F1-B3EF-9E105C48BC89}"/>
              </c:ext>
            </c:extLst>
          </c:dPt>
          <c:dPt>
            <c:idx val="10"/>
            <c:invertIfNegative val="0"/>
            <c:bubble3D val="0"/>
            <c:spPr>
              <a:solidFill>
                <a:srgbClr val="F26B7A"/>
              </a:solidFill>
            </c:spPr>
            <c:extLst>
              <c:ext xmlns:c16="http://schemas.microsoft.com/office/drawing/2014/chart" uri="{C3380CC4-5D6E-409C-BE32-E72D297353CC}">
                <c16:uniqueId val="{00000015-D432-44F1-B3EF-9E105C48BC89}"/>
              </c:ext>
            </c:extLst>
          </c:dPt>
          <c:dPt>
            <c:idx val="11"/>
            <c:invertIfNegative val="0"/>
            <c:bubble3D val="0"/>
            <c:spPr>
              <a:solidFill>
                <a:srgbClr val="F26B7A"/>
              </a:solidFill>
            </c:spPr>
            <c:extLst>
              <c:ext xmlns:c16="http://schemas.microsoft.com/office/drawing/2014/chart" uri="{C3380CC4-5D6E-409C-BE32-E72D297353CC}">
                <c16:uniqueId val="{00000017-D432-44F1-B3EF-9E105C48BC8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EAF2F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Technology &amp; Data</c:v>
                </c:pt>
                <c:pt idx="1">
                  <c:v>Human Resources</c:v>
                </c:pt>
                <c:pt idx="2">
                  <c:v>Finance &amp; Accounting</c:v>
                </c:pt>
                <c:pt idx="3">
                  <c:v>Marketing &amp; Comm.</c:v>
                </c:pt>
                <c:pt idx="4">
                  <c:v>Engineering &amp; Tech</c:v>
                </c:pt>
                <c:pt idx="5">
                  <c:v>Other (unclassified)</c:v>
                </c:pt>
                <c:pt idx="6">
                  <c:v>Sales &amp; Cust. Service</c:v>
                </c:pt>
                <c:pt idx="7">
                  <c:v>Operations &amp; Logistics</c:v>
                </c:pt>
                <c:pt idx="8">
                  <c:v>Administration</c:v>
                </c:pt>
                <c:pt idx="9">
                  <c:v>Legal</c:v>
                </c:pt>
                <c:pt idx="10">
                  <c:v>Healthcare</c:v>
                </c:pt>
                <c:pt idx="11">
                  <c:v>Education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25.7</c:v>
                </c:pt>
                <c:pt idx="1">
                  <c:v>19.899999999999999</c:v>
                </c:pt>
                <c:pt idx="2">
                  <c:v>14.3</c:v>
                </c:pt>
                <c:pt idx="3">
                  <c:v>14.1</c:v>
                </c:pt>
                <c:pt idx="4">
                  <c:v>13.8</c:v>
                </c:pt>
                <c:pt idx="5">
                  <c:v>12.1</c:v>
                </c:pt>
                <c:pt idx="6">
                  <c:v>11.4</c:v>
                </c:pt>
                <c:pt idx="7">
                  <c:v>10.4</c:v>
                </c:pt>
                <c:pt idx="8">
                  <c:v>9.1999999999999993</c:v>
                </c:pt>
                <c:pt idx="9">
                  <c:v>7</c:v>
                </c:pt>
                <c:pt idx="10">
                  <c:v>5</c:v>
                </c:pt>
                <c:pt idx="11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D432-44F1-B3EF-9E105C48BC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2B4A75"/>
            </a:solidFill>
          </a:ln>
        </c:spPr>
        <c:txPr>
          <a:bodyPr/>
          <a:lstStyle/>
          <a:p>
            <a:pPr>
              <a:defRPr sz="700">
                <a:solidFill>
                  <a:srgbClr val="EAF2F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700">
          <a:solidFill>
            <a:srgbClr val="EAF2FB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0596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14319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4937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71725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7041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53182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71195405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61545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4847522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187019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43469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5384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8763175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96738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10613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237908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71687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355897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32241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5545463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296709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4218449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0292201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87719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73991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05128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914356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7912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109865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893104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811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0146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40463137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1298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2444867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5901148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570777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4711645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7585086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307450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C1979EE6-6944-48F0-87CE-65E90A3ACC7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33647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79898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3285588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0401900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433312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9576444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2184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1843012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5904919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3502575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66968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  <p:sldLayoutId id="2147483884" r:id="rId18"/>
    <p:sldLayoutId id="2147483885" r:id="rId19"/>
    <p:sldLayoutId id="2147483886" r:id="rId20"/>
    <p:sldLayoutId id="2147483887" r:id="rId21"/>
    <p:sldLayoutId id="2147483888" r:id="rId22"/>
    <p:sldLayoutId id="2147483889" r:id="rId23"/>
    <p:sldLayoutId id="2147483890" r:id="rId24"/>
    <p:sldLayoutId id="2147483891" r:id="rId25"/>
    <p:sldLayoutId id="2147483892" r:id="rId26"/>
    <p:sldLayoutId id="2147483893" r:id="rId27"/>
    <p:sldLayoutId id="2147483894" r:id="rId28"/>
    <p:sldLayoutId id="2147483895" r:id="rId29"/>
    <p:sldLayoutId id="2147483896" r:id="rId30"/>
    <p:sldLayoutId id="2147483897" r:id="rId31"/>
    <p:sldLayoutId id="2147483898" r:id="rId32"/>
    <p:sldLayoutId id="2147483899" r:id="rId33"/>
    <p:sldLayoutId id="2147483900" r:id="rId34"/>
    <p:sldLayoutId id="2147483901" r:id="rId35"/>
    <p:sldLayoutId id="2147483902" r:id="rId36"/>
    <p:sldLayoutId id="2147483903" r:id="rId37"/>
    <p:sldLayoutId id="2147483904" r:id="rId38"/>
    <p:sldLayoutId id="2147483905" r:id="rId39"/>
    <p:sldLayoutId id="2147483906" r:id="rId40"/>
    <p:sldLayoutId id="2147483907" r:id="rId41"/>
    <p:sldLayoutId id="2147483908" r:id="rId42"/>
    <p:sldLayoutId id="2147483909" r:id="rId43"/>
    <p:sldLayoutId id="2147483910" r:id="rId44"/>
    <p:sldLayoutId id="2147483911" r:id="rId45"/>
    <p:sldLayoutId id="2147483912" r:id="rId46"/>
    <p:sldLayoutId id="2147483913" r:id="rId47"/>
    <p:sldLayoutId id="2147483914" r:id="rId4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7" Type="http://schemas.openxmlformats.org/officeDocument/2006/relationships/chart" Target="../charts/chart19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33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7AF0"/>
                </a:solidFill>
              </a:rPr>
              <a:t>Job Market Analysis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400" b="0">
                <a:solidFill>
                  <a:srgbClr val="ECF0FB"/>
                </a:solidFill>
              </a:rPr>
              <a:t>Hiring demand, salary and job-family insights from 40,000 LinkedIn postings</a:t>
            </a:r>
            <a:endParaRPr lang="en-US" dirty="0"/>
          </a:p>
          <a:p>
            <a:pPr>
              <a:spcBef>
                <a:spcPts val="1000"/>
              </a:spcBef>
            </a:pPr>
            <a:r>
              <a:rPr lang="en-US" sz="2000" b="1">
                <a:solidFill>
                  <a:srgbClr val="ECF0FB"/>
                </a:solidFill>
              </a:rPr>
              <a:t>Presented by: Siddique Amrin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11247120" cy="822960"/>
          </a:xfrm>
        </p:spPr>
        <p:txBody>
          <a:bodyPr wrap="square" anchor="ctr"/>
          <a:lstStyle/>
          <a:p>
            <a:pPr algn="ctr"/>
            <a:r>
              <a:rPr sz="2600" b="1" cap="none" spc="0">
                <a:solidFill>
                  <a:srgbClr val="F9D423"/>
                </a:solidFill>
              </a:rPr>
              <a:t>Analyse Job Market Trends &amp; Workforce Demand (Recruitment Analytics)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57200" y="2103120"/>
            <a:ext cx="3840480" cy="2468880"/>
          </a:xfrm>
          <a:prstGeom prst="rightArrow">
            <a:avLst>
              <a:gd name="adj1" fmla="val 62000"/>
              <a:gd name="adj2" fmla="val 45000"/>
            </a:avLst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283464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F9D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600" b="1">
                <a:solidFill>
                  <a:srgbClr val="111111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3657600" cy="822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400" b="1">
                <a:solidFill>
                  <a:srgbClr val="EAF2FB"/>
                </a:solidFill>
              </a:rPr>
              <a:t>40,000 LinkedIn job postings</a:t>
            </a:r>
          </a:p>
          <a:p>
            <a:pPr algn="ctr"/>
            <a:r>
              <a:rPr sz="1300" b="0">
                <a:solidFill>
                  <a:srgbClr val="5BC0EB"/>
                </a:solidFill>
              </a:rPr>
              <a:t>12 tasks  |  3 objectives  |  Excel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143000"/>
            <a:ext cx="731520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Job Market &amp; Workforce Demand Analysis</a:t>
            </a:r>
          </a:p>
        </p:txBody>
      </p:sp>
      <p:sp>
        <p:nvSpPr>
          <p:cNvPr id="7" name="Down Arrow 6"/>
          <p:cNvSpPr/>
          <p:nvPr/>
        </p:nvSpPr>
        <p:spPr>
          <a:xfrm>
            <a:off x="7955279" y="1664207"/>
            <a:ext cx="365760" cy="182880"/>
          </a:xfrm>
          <a:prstGeom prst="downArrow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80560" y="1874519"/>
            <a:ext cx="7315200" cy="502920"/>
          </a:xfrm>
          <a:prstGeom prst="rect">
            <a:avLst/>
          </a:prstGeom>
          <a:solidFill>
            <a:srgbClr val="A8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Hiring Demand by Company &amp; Location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7955279" y="2395727"/>
            <a:ext cx="365760" cy="182880"/>
          </a:xfrm>
          <a:prstGeom prst="downArrow">
            <a:avLst/>
          </a:prstGeom>
          <a:solidFill>
            <a:srgbClr val="A8B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2606040"/>
            <a:ext cx="7315200" cy="502920"/>
          </a:xfrm>
          <a:prstGeom prst="rect">
            <a:avLst/>
          </a:prstGeom>
          <a:solidFill>
            <a:srgbClr val="BF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Experience Level &amp; Work Type Analysis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955279" y="3127248"/>
            <a:ext cx="365760" cy="182880"/>
          </a:xfrm>
          <a:prstGeom prst="downArrow">
            <a:avLst/>
          </a:prstGeom>
          <a:solidFill>
            <a:srgbClr val="BFE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337560"/>
            <a:ext cx="7315200" cy="502920"/>
          </a:xfrm>
          <a:prstGeom prst="rect">
            <a:avLst/>
          </a:prstGeom>
          <a:solidFill>
            <a:srgbClr val="4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Salary &amp; Compensation Insight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955279" y="3858768"/>
            <a:ext cx="365760" cy="182880"/>
          </a:xfrm>
          <a:prstGeom prst="downArrow">
            <a:avLst/>
          </a:prstGeom>
          <a:solidFill>
            <a:srgbClr val="4C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4069080"/>
            <a:ext cx="7315200" cy="502920"/>
          </a:xfrm>
          <a:prstGeom prst="rect">
            <a:avLst/>
          </a:prstGeom>
          <a:solidFill>
            <a:srgbClr val="8BD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Remote Work &amp; Job-Family Analysis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955279" y="4590288"/>
            <a:ext cx="365760" cy="182880"/>
          </a:xfrm>
          <a:prstGeom prst="downArrow">
            <a:avLst/>
          </a:prstGeom>
          <a:solidFill>
            <a:srgbClr val="8BD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4800600"/>
            <a:ext cx="7315200" cy="502920"/>
          </a:xfrm>
          <a:prstGeom prst="rect">
            <a:avLst/>
          </a:prstGeom>
          <a:solidFill>
            <a:srgbClr val="D9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0A2342"/>
                </a:solidFill>
              </a:rPr>
              <a:t>Candidate Interest: Views &amp; Applications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955279" y="5321808"/>
            <a:ext cx="365760" cy="182880"/>
          </a:xfrm>
          <a:prstGeom prst="downArrow">
            <a:avLst/>
          </a:prstGeom>
          <a:solidFill>
            <a:srgbClr val="D9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60" y="5532120"/>
            <a:ext cx="7315200" cy="502920"/>
          </a:xfrm>
          <a:prstGeom prst="rect">
            <a:avLst/>
          </a:prstGeom>
          <a:solidFill>
            <a:srgbClr val="E5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Data-Driven Recruitment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37160"/>
            <a:ext cx="6675120" cy="731520"/>
          </a:xfrm>
        </p:spPr>
        <p:txBody>
          <a:bodyPr wrap="square" anchor="ctr"/>
          <a:lstStyle/>
          <a:p>
            <a:pPr algn="ctr"/>
            <a:r>
              <a:rPr sz="3200" b="1" cap="none" spc="0">
                <a:solidFill>
                  <a:srgbClr val="F9D423"/>
                </a:solidFill>
              </a:rPr>
              <a:t>Project Flow (Methodology)</a:t>
            </a:r>
          </a:p>
        </p:txBody>
      </p:sp>
      <p:sp>
        <p:nvSpPr>
          <p:cNvPr id="3" name="Pentagon 2"/>
          <p:cNvSpPr/>
          <p:nvPr/>
        </p:nvSpPr>
        <p:spPr>
          <a:xfrm>
            <a:off x="411480" y="1417320"/>
            <a:ext cx="1234440" cy="868680"/>
          </a:xfrm>
          <a:prstGeom prst="homePlat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Start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737360" y="128016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1  Data Collection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029200" y="128016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F4A6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2  Data Cleaning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321040" y="128016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8BD1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3  Pivot Tables</a:t>
            </a:r>
          </a:p>
        </p:txBody>
      </p:sp>
      <p:sp>
        <p:nvSpPr>
          <p:cNvPr id="7" name="Left Arrow 6"/>
          <p:cNvSpPr/>
          <p:nvPr/>
        </p:nvSpPr>
        <p:spPr>
          <a:xfrm>
            <a:off x="8321040" y="2743200"/>
            <a:ext cx="3383280" cy="1143000"/>
          </a:xfrm>
          <a:prstGeom prst="leftArrow">
            <a:avLst>
              <a:gd name="adj1" fmla="val 70000"/>
              <a:gd name="adj2" fmla="val 50000"/>
            </a:avLst>
          </a:prstGeom>
          <a:solidFill>
            <a:srgbClr val="D9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4  Descriptive Statistics</a:t>
            </a:r>
          </a:p>
        </p:txBody>
      </p:sp>
      <p:sp>
        <p:nvSpPr>
          <p:cNvPr id="8" name="Left Arrow 7"/>
          <p:cNvSpPr/>
          <p:nvPr/>
        </p:nvSpPr>
        <p:spPr>
          <a:xfrm>
            <a:off x="5029200" y="2743200"/>
            <a:ext cx="3383280" cy="1143000"/>
          </a:xfrm>
          <a:prstGeom prst="leftArrow">
            <a:avLst>
              <a:gd name="adj1" fmla="val 70000"/>
              <a:gd name="adj2" fmla="val 50000"/>
            </a:avLst>
          </a:prstGeom>
          <a:solidFill>
            <a:srgbClr val="C9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5  Charts &amp; Visuals</a:t>
            </a:r>
          </a:p>
        </p:txBody>
      </p:sp>
      <p:sp>
        <p:nvSpPr>
          <p:cNvPr id="9" name="Left Arrow 8"/>
          <p:cNvSpPr/>
          <p:nvPr/>
        </p:nvSpPr>
        <p:spPr>
          <a:xfrm>
            <a:off x="1737360" y="2743200"/>
            <a:ext cx="3383280" cy="1143000"/>
          </a:xfrm>
          <a:prstGeom prst="leftArrow">
            <a:avLst>
              <a:gd name="adj1" fmla="val 70000"/>
              <a:gd name="adj2" fmla="val 50000"/>
            </a:avLst>
          </a:prstGeom>
          <a:solidFill>
            <a:srgbClr val="B7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6  Slicers &amp; KPI Cards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1155680" y="2148840"/>
            <a:ext cx="457200" cy="685800"/>
          </a:xfrm>
          <a:prstGeom prst="downArrow">
            <a:avLst/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914400" y="3611880"/>
            <a:ext cx="457200" cy="685800"/>
          </a:xfrm>
          <a:prstGeom prst="downArrow">
            <a:avLst/>
          </a:prstGeom>
          <a:solidFill>
            <a:srgbClr val="B7E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1737360" y="420624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F08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0A2342"/>
                </a:solidFill>
              </a:rPr>
              <a:t>7  Excel Dashboard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29200" y="4206240"/>
            <a:ext cx="3383280" cy="1143000"/>
          </a:xfrm>
          <a:prstGeom prst="rightArrow">
            <a:avLst>
              <a:gd name="adj1" fmla="val 70000"/>
              <a:gd name="adj2" fmla="val 50000"/>
            </a:avLst>
          </a:prstGeom>
          <a:solidFill>
            <a:srgbClr val="3A8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  Business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0" y="4160520"/>
            <a:ext cx="1097280" cy="109728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887967" y="4270248"/>
            <a:ext cx="877824" cy="877824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97696" y="4379976"/>
            <a:ext cx="658368" cy="65836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07424" y="4489704"/>
            <a:ext cx="438911" cy="438911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17152" y="4599431"/>
            <a:ext cx="219455" cy="219455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9326880" y="4105656"/>
            <a:ext cx="548639" cy="603503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66960" y="4480560"/>
            <a:ext cx="201168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1700" b="1">
                <a:solidFill>
                  <a:srgbClr val="EAF2FB"/>
                </a:solidFill>
              </a:rPr>
              <a:t>9  Final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/>
            <a:r>
              <a:rPr sz="1400" b="0">
                <a:solidFill>
                  <a:srgbClr val="5BC0EB"/>
                </a:solidFill>
              </a:rPr>
              <a:t>Tool used: Microsoft Excel (data cleaning, PivotTables, PivotCharts, slicers, KPI cards and dashboard)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82880"/>
            <a:ext cx="7589520" cy="640080"/>
          </a:xfrm>
        </p:spPr>
        <p:txBody>
          <a:bodyPr wrap="square" anchor="ctr"/>
          <a:lstStyle/>
          <a:p>
            <a:pPr algn="ctr"/>
            <a:r>
              <a:rPr sz="3000" b="1" cap="none" spc="0">
                <a:solidFill>
                  <a:srgbClr val="F9D423"/>
                </a:solidFill>
              </a:rPr>
              <a:t>DATASET INFORMATION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Field group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Records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Columns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columns and description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Job &amp; company details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14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job_id, company_name, title, location, company_id, zip_code, skills_desc, posting and application links, closed_time, sponsored. Shows who is hiring, for which role and where.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Salary &amp; compensation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min_salary, max_salary, med_salary, pay_period, currency, compensation_type, normalized_salary, salary_data_status, salary_clean (annual salary, values above $1M excluded). Used for pay benchmarks.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Work arrangement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formatted_work_type, work_type, remote_allowed, remote_status. Used to compare Full-time, Contract, Part-time and remote jobs.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Experience &amp; job family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formatted_experience_level, job_family (12 families). Used for demand by level and by job category.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Candidate engagement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2342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2342"/>
                          </a:solidFill>
                        </a:rPr>
                        <a:t>views, applies. Used for views vs applications and application rate.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Total (JOB DATA sheet)</a:t>
                      </a:r>
                    </a:p>
                  </a:txBody>
                  <a:tcPr anchor="ctr">
                    <a:solidFill>
                      <a:srgbClr val="BFE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40,000</a:t>
                      </a:r>
                    </a:p>
                  </a:txBody>
                  <a:tcPr anchor="ctr">
                    <a:solidFill>
                      <a:srgbClr val="BFE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31</a:t>
                      </a:r>
                    </a:p>
                  </a:txBody>
                  <a:tcPr anchor="ctr">
                    <a:solidFill>
                      <a:srgbClr val="BFE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LinkedIn job postings: one row per posting, cleaned and ready for PivotTables.</a:t>
                      </a:r>
                    </a:p>
                  </a:txBody>
                  <a:tcPr anchor="ctr">
                    <a:solidFill>
                      <a:srgbClr val="BFE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182880"/>
            <a:ext cx="8138160" cy="640080"/>
          </a:xfrm>
        </p:spPr>
        <p:txBody>
          <a:bodyPr wrap="square" anchor="ctr"/>
          <a:lstStyle/>
          <a:p>
            <a:pPr algn="ctr"/>
            <a:r>
              <a:rPr sz="3000" b="1" cap="none" spc="0">
                <a:solidFill>
                  <a:srgbClr val="F9D423"/>
                </a:solidFill>
              </a:rPr>
              <a:t>BUSINESS OBJECTIVES &amp; TASKS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0972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2124" y="187451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" y="26517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" y="34290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25296" y="42062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303020" y="70865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Business Objectives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Tasks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Tools</a:t>
                      </a:r>
                    </a:p>
                  </a:txBody>
                  <a:tcPr anchor="ctr">
                    <a:solidFill>
                      <a:srgbClr val="1F7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Objective 1: Evaluate Hiring Demand Across Companies, Locations and Experience Levels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companies have the highest number of job postings?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2 -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locations have the most job opportunities?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3 -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does hiring demand vary by experience level?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4 -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does experience level vary by work type?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Microsoft Excel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Objective 2: Analyze Salary Patterns, Remote Work and Job-Family Demand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5 -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job titles have the highest average salary?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6 -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locations offer the highest average salary?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7 -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 remote-allowed jobs build up across work types?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8 -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job families have the highest hiring demand, by work type?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Microsoft Excel</a:t>
                      </a:r>
                    </a:p>
                  </a:txBody>
                  <a:tcPr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Objective 3: Compare Job Families on Experience, Candidate Interest and Demand Concentration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9 -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does experience level vary across job families?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10 -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 views relate to applications across job families?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11 -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Which job families convert views into applications best?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12 -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What is the share of postings by work type, and how concentrated is demand across job families?</a:t>
                      </a:r>
                    </a:p>
                    <a:p>
                      <a:pPr algn="l"/>
                      <a:r>
                        <a:rPr sz="1200" b="1">
                          <a:solidFill>
                            <a:srgbClr val="0A2342"/>
                          </a:solidFill>
                        </a:rPr>
                        <a:t>Dashboard - </a:t>
                      </a:r>
                      <a:r>
                        <a:rPr sz="1200" b="0">
                          <a:solidFill>
                            <a:srgbClr val="0A2342"/>
                          </a:solidFill>
                        </a:rPr>
                        <a:t>How do all 12 tasks combine in one view?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2342"/>
                          </a:solidFill>
                        </a:rPr>
                        <a:t>Microsoft Excel</a:t>
                      </a:r>
                    </a:p>
                  </a:txBody>
                  <a:tcPr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1 :- Evaluate Hiring Demand Across Companies, Locations and Experience Levels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 Top 10 Companies by Job Postings (Bar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Liberty Healthcare (341) and The Job Network (318) post the most jobs; Sales Manager is the most advertised role (228).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 Top 10 Locations by Job Postings (Column chart)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New York leads with 866 postings; Houston and Chicago follow with 565 each, and Texas cities fill 3 of the top 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1 :- Evaluate Hiring Demand Across Companies, Locations and Experience Levels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 Hiring Demand by Experience Level (Column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Mid-Senior (13,499) and Entry (11,881) roles make up 83% of postings with a stated level; Internship and Executive are under 2% 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Work-Type Mix within Each Experience Level (100% stacked bar)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Full-time dominates every level (53% to 94% of postings); Part-time is strongest at Entry level (14%).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2 :- Analyze Salary Patterns, Remote Work and Job-Family Demand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 Top 10 Job Titles by Average Salary (Bar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BigLaw Partner listings top the list at $925K; Oral Surgeon ($650K) and CISO ($632K) follow. Values above $1M were excluded as data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 Top 10 Locations by Average Salary (Column chart)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Top location averages ($290K-$700K) come from one or two postings in small markets, so treat them as outliers, not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2 :- Analyze Salary Patterns, Remote Work and Job-Family Demand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Remote-Allowed Jobs Build-Up by Work Type (Waterfall)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Full-time adds 3,577 of the 4,892 remote-allowed jobs (73%) and Contract adds 983 (20%); only 12.2% of all postings are remote.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Hiring Demand by Job Family and Work Type (Stacked bar)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Engineering, Healthcare and Sales hold 52% of named postings; Full-time leads every family and Tech &amp; Data uses the most Contract roles (763).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3 :- Compare Job Families on Experience, Candidate Interest and Demand Concentration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1143000"/>
            <a:ext cx="11247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 Experience Level by Job Family (Stacked column)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74519"/>
            <a:ext cx="11247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530352" y="1920240"/>
          <a:ext cx="11100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57200" y="5504688"/>
            <a:ext cx="11247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Entry level dominates Engineering (1,972), while Tech &amp; Data leans Mid-Senior (1,113 vs 400 Entry); Finance &amp; Accounting also skews Mid-Senior (669 vs 262). Dir./Exec./Intern = Director + Executive + Internship.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OBJECTIVE 3 :- Compare Job Families on Experience, Candidate Interest and Demand Concentration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Views vs Applications by Job Family (Scatter plot)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113455"/>
              </p:ext>
            </p:extLst>
          </p:nvPr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More views go with more applications; Tech &amp; Data stands far above the rest (83.5K views, 21.4K applications).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0A2342"/>
                </a:solidFill>
              </a:rPr>
              <a:t>Applications per 100 Views by Job Family (Bar chart)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Tech &amp; Data converts best (25.7 applications per 100 views); Education (4.6) and Healthcare (5.0) convert least. Overall rate is 13.9.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 dirty="0">
                <a:solidFill>
                  <a:srgbClr val="F9D423"/>
                </a:solidFill>
              </a:rPr>
              <a:t> Share of Postings by Work Type and Concentration of Demand by Job Family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0A2342"/>
                </a:solidFill>
              </a:rPr>
              <a:t> Share of Postings by Work Type (Pie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30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Full-time is 79.8% of all postings (31,939); Contract (9.6%) and Part-time (7.9%) together are only 17.5%, so hiring is mostly full-time.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532120" cy="64008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0A2342"/>
                </a:solidFill>
              </a:rPr>
              <a:t> Job-Family Demand with Cumulative Share (Pareto chart)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352044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245352" y="1920240"/>
          <a:ext cx="5385816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172200" y="5504688"/>
            <a:ext cx="5532120" cy="1005840"/>
          </a:xfrm>
          <a:prstGeom prst="roundRect">
            <a:avLst>
              <a:gd name="adj" fmla="val 12000"/>
            </a:avLst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l"/>
            <a:r>
              <a:rPr sz="1300" b="1">
                <a:solidFill>
                  <a:srgbClr val="7A1020"/>
                </a:solidFill>
              </a:rPr>
              <a:t>Key insight: </a:t>
            </a:r>
            <a:r>
              <a:rPr sz="1300" b="1">
                <a:solidFill>
                  <a:srgbClr val="0A2342"/>
                </a:solidFill>
              </a:rPr>
              <a:t>Unclassified 'Other' is the biggest bucket (41.5%); Engineering, Healthcare and Sales add 30.7 points, and the top six categories reach 85% of all postings.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74320" y="109728"/>
            <a:ext cx="11640312" cy="621792"/>
          </a:xfrm>
          <a:prstGeom prst="roundRect">
            <a:avLst>
              <a:gd name="adj" fmla="val 12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583680" cy="62179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/>
            <a:r>
              <a:rPr sz="2000" b="1">
                <a:solidFill>
                  <a:srgbClr val="F9D423"/>
                </a:solidFill>
              </a:rPr>
              <a:t>JOB MARKET INSIGHTS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09728"/>
            <a:ext cx="5486400" cy="62179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/>
            <a:r>
              <a:rPr sz="900" b="1">
                <a:solidFill>
                  <a:srgbClr val="5BC0EB"/>
                </a:solidFill>
              </a:rPr>
              <a:t>HIRING DEMAND  |  SALARY TRENDS  |  REMOTE WORK  |  WORKFORCE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4AB1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TOTAL JOB POSTINGS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4AB1FE"/>
                </a:solidFill>
              </a:rPr>
              <a:t>40,000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6894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00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6622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REMOTE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6622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0C4B6"/>
                </a:solidFill>
              </a:rPr>
              <a:t>4,892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9468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9196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AVG SALARY (CLEANED)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9196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2A541"/>
                </a:solidFill>
              </a:rPr>
              <a:t>$95,049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2043" y="822960"/>
            <a:ext cx="2377440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B56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1771" y="85953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TOP JOB 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1771" y="1042415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B56CF0"/>
                </a:solidFill>
              </a:rPr>
              <a:t>Engineering &amp; Technical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1536192"/>
            <a:ext cx="2377440" cy="1042416"/>
          </a:xfrm>
          <a:prstGeom prst="roundRect">
            <a:avLst>
              <a:gd name="adj" fmla="val 4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58191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▼  EXPERIENCE 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810512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Mid-Senior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1810512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1810512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Associate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057400"/>
            <a:ext cx="621792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Director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2057400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Internship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10512" y="2057400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Executive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304288"/>
            <a:ext cx="896112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Not specified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642616"/>
            <a:ext cx="2377440" cy="1042416"/>
          </a:xfrm>
          <a:prstGeom prst="roundRect">
            <a:avLst>
              <a:gd name="adj" fmla="val 4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2688336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▼  WORK TYPE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916936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Full-time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8136" y="2916936"/>
            <a:ext cx="621792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Contract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55648" y="2916936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Part-time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163824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Temporary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8136" y="3163824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Internship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65376" y="3163824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Volunteer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410712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749040"/>
            <a:ext cx="2377440" cy="548640"/>
          </a:xfrm>
          <a:prstGeom prst="roundRect">
            <a:avLst>
              <a:gd name="adj" fmla="val 4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37947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▼  REMOTE STATUS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023360"/>
            <a:ext cx="95097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Remote allowed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456" y="4023360"/>
            <a:ext cx="896112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Not specified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4361688"/>
            <a:ext cx="2377440" cy="1289304"/>
          </a:xfrm>
          <a:prstGeom prst="roundRect">
            <a:avLst>
              <a:gd name="adj" fmla="val 4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40740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▼  JOB FAMILY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636008"/>
            <a:ext cx="786383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Engineering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97864" y="4636008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Healthcare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75104" y="4636008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4882896"/>
            <a:ext cx="73152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" y="4882896"/>
            <a:ext cx="786383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Tech &amp;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75104" y="4882896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5129784"/>
            <a:ext cx="566928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8408" y="5129784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00784" y="5129784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5376672"/>
            <a:ext cx="676656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88136" y="5376672"/>
            <a:ext cx="292608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HR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26464" y="5376672"/>
            <a:ext cx="457200" cy="201168"/>
          </a:xfrm>
          <a:prstGeom prst="roundRect">
            <a:avLst>
              <a:gd name="adj" fmla="val 25000"/>
            </a:avLst>
          </a:prstGeom>
          <a:solidFill>
            <a:srgbClr val="5C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153619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88920" y="156362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Hiring demand by experience level (column)</a:t>
            </a:r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2779776" y="182880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6" name="Rounded Rectangle 55"/>
          <p:cNvSpPr/>
          <p:nvPr/>
        </p:nvSpPr>
        <p:spPr>
          <a:xfrm>
            <a:off x="5820156" y="153619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65876" y="156362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Top 10 locations by postings (bar)</a:t>
            </a:r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5856732" y="182880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" name="Rounded Rectangle 58"/>
          <p:cNvSpPr/>
          <p:nvPr/>
        </p:nvSpPr>
        <p:spPr>
          <a:xfrm>
            <a:off x="8897112" y="153619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42832" y="156362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Remote jobs build-up by work type (waterfall)</a:t>
            </a:r>
          </a:p>
        </p:txBody>
      </p:sp>
      <p:graphicFrame>
        <p:nvGraphicFramePr>
          <p:cNvPr id="61" name="Chart 60"/>
          <p:cNvGraphicFramePr>
            <a:graphicFrameLocks noGrp="1"/>
          </p:cNvGraphicFramePr>
          <p:nvPr/>
        </p:nvGraphicFramePr>
        <p:xfrm>
          <a:off x="8933688" y="182880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Rounded Rectangle 61"/>
          <p:cNvSpPr/>
          <p:nvPr/>
        </p:nvSpPr>
        <p:spPr>
          <a:xfrm>
            <a:off x="2743200" y="363931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788920" y="366674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Hiring demand by job family &amp; work type (stacked)</a:t>
            </a:r>
          </a:p>
        </p:txBody>
      </p:sp>
      <p:graphicFrame>
        <p:nvGraphicFramePr>
          <p:cNvPr id="64" name="Chart 63"/>
          <p:cNvGraphicFramePr>
            <a:graphicFrameLocks noGrp="1"/>
          </p:cNvGraphicFramePr>
          <p:nvPr/>
        </p:nvGraphicFramePr>
        <p:xfrm>
          <a:off x="2779776" y="393192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5" name="Rounded Rectangle 64"/>
          <p:cNvSpPr/>
          <p:nvPr/>
        </p:nvSpPr>
        <p:spPr>
          <a:xfrm>
            <a:off x="5820156" y="363931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65876" y="366674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Views vs applications by job family (scatter)</a:t>
            </a:r>
          </a:p>
        </p:txBody>
      </p:sp>
      <p:graphicFrame>
        <p:nvGraphicFramePr>
          <p:cNvPr id="67" name="Chart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31950"/>
              </p:ext>
            </p:extLst>
          </p:nvPr>
        </p:nvGraphicFramePr>
        <p:xfrm>
          <a:off x="5856732" y="393192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8" name="Rounded Rectangle 67"/>
          <p:cNvSpPr/>
          <p:nvPr/>
        </p:nvSpPr>
        <p:spPr>
          <a:xfrm>
            <a:off x="8897112" y="3639312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0E2E57"/>
          </a:solidFill>
          <a:ln>
            <a:solidFill>
              <a:srgbClr val="2B4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2832" y="3666744"/>
            <a:ext cx="2926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F9D423"/>
                </a:solidFill>
              </a:rPr>
              <a:t>Applications per 100 views by job family (bar)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74320" y="5724144"/>
            <a:ext cx="5486400" cy="1042415"/>
          </a:xfrm>
          <a:prstGeom prst="roundRect">
            <a:avLst>
              <a:gd name="adj" fmla="val 8000"/>
            </a:avLst>
          </a:prstGeom>
          <a:solidFill>
            <a:srgbClr val="0E2E57"/>
          </a:solidFill>
          <a:ln>
            <a:solidFill>
              <a:srgbClr val="5BC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1480" y="5760720"/>
            <a:ext cx="5212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5BC0EB"/>
                </a:solidFill>
              </a:rPr>
              <a:t>BUSINESS NARRATIVE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5961888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EAF2FB"/>
                </a:solidFill>
              </a:rPr>
              <a:t>Hiring is concentrated in a few employers, cities and experience levels (New York 866; Mid-Senior 13,499; Entry 11,881). Full-time is 79.8% of postings and only 12.2% of jobs are remote. Pay peaks in niche senior roles, so use medians as benchmarks. Tech &amp; Data attracts the most candidates; Education and Healthcare convert least.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52160" y="5724144"/>
            <a:ext cx="6062472" cy="1042415"/>
          </a:xfrm>
          <a:prstGeom prst="roundRect">
            <a:avLst>
              <a:gd name="adj" fmla="val 8000"/>
            </a:avLst>
          </a:prstGeom>
          <a:solidFill>
            <a:srgbClr val="0E2E57"/>
          </a:solidFill>
          <a:ln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989320" y="5760720"/>
            <a:ext cx="5760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2A541"/>
                </a:solidFill>
              </a:rPr>
              <a:t>KEY INSIGHTS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89320" y="596188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1. New York leads with 866 postings; staffing and healthcare firms post most.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2. Mid-Senior and Entry roles: 83% of postings.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3. Full-time is 79.8%; only 12.2% of jobs are remote.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15400" y="596188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4. Engineering, Healthcare and Sales hold about 52% of demand.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EAF2FB"/>
                </a:solidFill>
              </a:rPr>
              <a:t>5. Tech &amp; Data pays most (median ~$135K) and converts best.</a:t>
            </a:r>
          </a:p>
        </p:txBody>
      </p:sp>
      <p:sp>
        <p:nvSpPr>
          <p:cNvPr id="78" name="Rounded Rectangle 4"/>
          <p:cNvSpPr/>
          <p:nvPr/>
        </p:nvSpPr>
        <p:spPr>
          <a:xfrm>
            <a:off x="8300923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4AB1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5"/>
          <p:cNvSpPr txBox="1"/>
          <p:nvPr/>
        </p:nvSpPr>
        <p:spPr>
          <a:xfrm>
            <a:off x="8410651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CANDIDATE VIEWS</a:t>
            </a:r>
          </a:p>
        </p:txBody>
      </p:sp>
      <p:sp>
        <p:nvSpPr>
          <p:cNvPr id="80" name="TextBox 6"/>
          <p:cNvSpPr txBox="1"/>
          <p:nvPr/>
        </p:nvSpPr>
        <p:spPr>
          <a:xfrm>
            <a:off x="8410651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4AB1FE"/>
                </a:solidFill>
              </a:rPr>
              <a:t>566,882</a:t>
            </a:r>
          </a:p>
        </p:txBody>
      </p:sp>
      <p:sp>
        <p:nvSpPr>
          <p:cNvPr id="81" name="Rounded Rectangle 7"/>
          <p:cNvSpPr/>
          <p:nvPr/>
        </p:nvSpPr>
        <p:spPr>
          <a:xfrm>
            <a:off x="10153497" y="822960"/>
            <a:ext cx="1761134" cy="621792"/>
          </a:xfrm>
          <a:prstGeom prst="roundRect">
            <a:avLst>
              <a:gd name="adj" fmla="val 10000"/>
            </a:avLst>
          </a:prstGeom>
          <a:solidFill>
            <a:srgbClr val="0E2E57"/>
          </a:solidFill>
          <a:ln>
            <a:solidFill>
              <a:srgbClr val="00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"/>
          <p:cNvSpPr txBox="1"/>
          <p:nvPr/>
        </p:nvSpPr>
        <p:spPr>
          <a:xfrm>
            <a:off x="10263225" y="859536"/>
            <a:ext cx="157825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5BC0EB"/>
                </a:solidFill>
              </a:rPr>
              <a:t>APPLIES PER 100 VIEWS</a:t>
            </a:r>
          </a:p>
        </p:txBody>
      </p:sp>
      <p:sp>
        <p:nvSpPr>
          <p:cNvPr id="83" name="TextBox 9"/>
          <p:cNvSpPr txBox="1"/>
          <p:nvPr/>
        </p:nvSpPr>
        <p:spPr>
          <a:xfrm>
            <a:off x="10263225" y="1042415"/>
            <a:ext cx="157825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0C4B6"/>
                </a:solidFill>
              </a:rPr>
              <a:t>13.9</a:t>
            </a:r>
          </a:p>
        </p:txBody>
      </p:sp>
      <p:graphicFrame>
        <p:nvGraphicFramePr>
          <p:cNvPr id="84" name="Chart 83"/>
          <p:cNvGraphicFramePr>
            <a:graphicFrameLocks noGrp="1"/>
          </p:cNvGraphicFramePr>
          <p:nvPr/>
        </p:nvGraphicFramePr>
        <p:xfrm>
          <a:off x="8933688" y="3931920"/>
          <a:ext cx="2944368" cy="168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182880"/>
            <a:ext cx="8138160" cy="640080"/>
          </a:xfrm>
        </p:spPr>
        <p:txBody>
          <a:bodyPr wrap="square" anchor="ctr"/>
          <a:lstStyle/>
          <a:p>
            <a:pPr algn="ctr"/>
            <a:r>
              <a:rPr sz="3000" b="1" cap="none" spc="0">
                <a:solidFill>
                  <a:srgbClr val="F9D423"/>
                </a:solidFill>
              </a:rPr>
              <a:t>SUMMARY OF ALL 12 TASKS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0972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2124" y="187451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9848" y="26517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7572" y="34290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25296" y="42062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303020" y="70865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Summary Table"/>
          <p:cNvGraphicFramePr>
            <a:graphicFrameLocks noGrp="1"/>
          </p:cNvGraphicFramePr>
          <p:nvPr/>
        </p:nvGraphicFramePr>
        <p:xfrm>
          <a:off x="457200" y="1097280"/>
          <a:ext cx="1124712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marT="27432" marB="27432"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Analysis (chart)</a:t>
                      </a:r>
                    </a:p>
                  </a:txBody>
                  <a:tcPr marT="27432" marB="27432" anchor="ctr">
                    <a:solidFill>
                      <a:srgbClr val="1F78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 marT="27432" marB="27432" anchor="ctr">
                    <a:solidFill>
                      <a:srgbClr val="1F7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Top 10 companies by postings (bar)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Liberty Healthcare (341) and The Job Network (318) post the most jobs.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2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Top 10 locations by postings (column)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New York leads with 866 postings; Houston and Chicago follow with 565 each.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3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Demand by experience level (column)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Mid-Senior (13,499) and Entry (11,881) make up 83% of stated-level postings.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4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Work-type mix by experience level (100% bar)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Full-time leads every level (53% to 94%); Part-time peaks at Entry level (14%).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5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Top 10 job titles by average salary (bar)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BigLaw Partner roles lead at $925K; values above $1M were excluded as errors.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6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Top 10 locations by average salary (column)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Orange Park leads at $700K; small-market averages rest on one or two postings.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7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Remote-allowed build-up by work type (waterfall)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Full-time adds 3,577 of 4,892 remote jobs (73%); Contract adds 983 (20%).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8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Demand by job family and work type (stacked bar)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Engineering (4,764), Healthcare (3,818) and Sales (3,695) lead; Full-time dominates.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9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Experience level by job family (stacked column)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Entry leads Engineering (1,972); Tech &amp; Data leans Mid-Senior (1,113 vs 400).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10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Views vs applications by job family (scatter)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Tech &amp; Data stands out with 83.5K views and 21.4K applications.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11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Applications per 100 views (bar)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Tech &amp; Data converts best (25.7); Education (4.6) and Healthcare (5.0) lowest.</a:t>
                      </a:r>
                    </a:p>
                  </a:txBody>
                  <a:tcPr marT="27432" marB="27432" anchor="ctr">
                    <a:solidFill>
                      <a:srgbClr val="D6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A2342"/>
                          </a:solidFill>
                        </a:rPr>
                        <a:t>Task 12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Work-type share (pie) and demand Pareto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A2342"/>
                          </a:solidFill>
                        </a:rPr>
                        <a:t>Full-time is 79.8% of postings; the top six categories reach 85% of all postings.</a:t>
                      </a:r>
                    </a:p>
                  </a:txBody>
                  <a:tcPr marT="27432" marB="27432" anchor="ctr">
                    <a:solidFill>
                      <a:srgbClr val="F2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3E47C41-D39A-4245-A7A3-ED0AB850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7AF0"/>
                </a:solidFill>
              </a:rPr>
              <a:t>Key Highlights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5CFF5-858C-4164-9FC5-90CD2124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ECF0FB"/>
                </a:solidFill>
              </a:rPr>
              <a:t>JOB MARKET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97396-5C5E-4112-B44F-BAEFC9E0A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D1FC6F8-0BCD-47E9-9C64-690771D9C1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47" name="Date Placeholder 346">
            <a:extLst>
              <a:ext uri="{FF2B5EF4-FFF2-40B4-BE49-F238E27FC236}">
                <a16:creationId xmlns:a16="http://schemas.microsoft.com/office/drawing/2014/main" id="{02F3D276-B9E7-4EE4-929B-A726A0D5DC4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ECF0FB"/>
                </a:solidFill>
              </a:rPr>
              <a:t>October 4, 2026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45F8A3-F409-4E82-902F-3686B4C0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81114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785493-3983-4D5B-89C1-18CAAE0A8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676709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E9FFB6-DC81-4156-AEF7-2BDD543C8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72306" y="4533900"/>
            <a:ext cx="18494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/>
          <p:cNvSpPr txBox="1"/>
          <p:nvPr/>
        </p:nvSpPr>
        <p:spPr>
          <a:xfrm>
            <a:off x="685800" y="21488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28374B"/>
                </a:solidFill>
                <a:latin typeface="Aptos"/>
              </a:rPr>
              <a:t>Four presentation-ready takeaways from the 12-task analysis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685800" y="2743200"/>
            <a:ext cx="251460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TextBox 349"/>
          <p:cNvSpPr txBox="1"/>
          <p:nvPr/>
        </p:nvSpPr>
        <p:spPr>
          <a:xfrm>
            <a:off x="850392" y="2907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4B73"/>
                </a:solidFill>
                <a:latin typeface="Aptos"/>
              </a:rPr>
              <a:t>01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850392" y="33101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Demand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850392" y="3767328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6505F"/>
                </a:solidFill>
                <a:latin typeface="Aptos"/>
              </a:rPr>
              <a:t>• New York leads with 866 postings; Houston and Chicago follow with 565 each.</a:t>
            </a:r>
          </a:p>
        </p:txBody>
      </p:sp>
      <p:sp>
        <p:nvSpPr>
          <p:cNvPr id="353" name="Rounded Rectangle 352"/>
          <p:cNvSpPr/>
          <p:nvPr/>
        </p:nvSpPr>
        <p:spPr>
          <a:xfrm>
            <a:off x="3474720" y="2743200"/>
            <a:ext cx="251460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TextBox 353"/>
          <p:cNvSpPr txBox="1"/>
          <p:nvPr/>
        </p:nvSpPr>
        <p:spPr>
          <a:xfrm>
            <a:off x="3639312" y="2907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4B73"/>
                </a:solidFill>
                <a:latin typeface="Aptos"/>
              </a:rPr>
              <a:t>02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639312" y="33101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Flexibility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3639312" y="3767328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6505F"/>
                </a:solidFill>
                <a:latin typeface="Aptos"/>
              </a:rPr>
              <a:t>• Only 12.2% of postings allow remote work, so most hiring remains on-site or unspecified.</a:t>
            </a:r>
          </a:p>
        </p:txBody>
      </p:sp>
      <p:sp>
        <p:nvSpPr>
          <p:cNvPr id="357" name="Rounded Rectangle 356"/>
          <p:cNvSpPr/>
          <p:nvPr/>
        </p:nvSpPr>
        <p:spPr>
          <a:xfrm>
            <a:off x="6263640" y="2743200"/>
            <a:ext cx="251460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357"/>
          <p:cNvSpPr txBox="1"/>
          <p:nvPr/>
        </p:nvSpPr>
        <p:spPr>
          <a:xfrm>
            <a:off x="6428231" y="2907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4B73"/>
                </a:solidFill>
                <a:latin typeface="Aptos"/>
              </a:rPr>
              <a:t>03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6428231" y="33101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Candidate interest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6428231" y="3767328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6505F"/>
                </a:solidFill>
                <a:latin typeface="Aptos"/>
              </a:rPr>
              <a:t>• Tech &amp; Data receives the strongest views and applications.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9052559" y="2743200"/>
            <a:ext cx="2514600" cy="2331720"/>
          </a:xfrm>
          <a:prstGeom prst="roundRect">
            <a:avLst/>
          </a:prstGeom>
          <a:solidFill>
            <a:srgbClr val="F8FAFD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TextBox 361"/>
          <p:cNvSpPr txBox="1"/>
          <p:nvPr/>
        </p:nvSpPr>
        <p:spPr>
          <a:xfrm>
            <a:off x="9217151" y="2907792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94B73"/>
                </a:solidFill>
                <a:latin typeface="Aptos"/>
              </a:rPr>
              <a:t>04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9217151" y="331012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D3C"/>
                </a:solidFill>
                <a:latin typeface="Aptos"/>
              </a:rPr>
              <a:t>Conversion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9217151" y="3767328"/>
            <a:ext cx="2148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46505F"/>
                </a:solidFill>
                <a:latin typeface="Aptos"/>
              </a:rPr>
              <a:t>• Healthcare converts only 5 applications per 100 views, indicating an engagement gap.</a:t>
            </a:r>
          </a:p>
        </p:txBody>
      </p:sp>
    </p:spTree>
    <p:extLst>
      <p:ext uri="{BB962C8B-B14F-4D97-AF65-F5344CB8AC3E}">
        <p14:creationId xmlns:p14="http://schemas.microsoft.com/office/powerpoint/2010/main" val="1423613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7160"/>
            <a:ext cx="10332720" cy="822960"/>
          </a:xfrm>
        </p:spPr>
        <p:txBody>
          <a:bodyPr wrap="square" anchor="ctr"/>
          <a:lstStyle/>
          <a:p>
            <a:pPr algn="ctr"/>
            <a:r>
              <a:rPr sz="2200" b="1" cap="none" spc="0">
                <a:solidFill>
                  <a:srgbClr val="F9D423"/>
                </a:solidFill>
              </a:rPr>
              <a:t>PROJECT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2FB"/>
                </a:solidFill>
                <a:latin typeface="Aptos"/>
              </a:rPr>
              <a:t>Key findings and business takeaways from all 12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2194560"/>
          </a:xfrm>
          <a:prstGeom prst="roundRect">
            <a:avLst/>
          </a:prstGeom>
          <a:solidFill>
            <a:srgbClr val="12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35607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D423"/>
                </a:solidFill>
                <a:latin typeface="Aptos"/>
              </a:rPr>
              <a:t>01  •  DEMAND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40,000 postings analysed; New York leads with 866, then Houston and Chicago (565 each).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Liberty Healthcare (341) and The Job Network (318) are the top hiring companies.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Mid-Senior (13,499) and Entry (11,881) roles make up 83% of stated-level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532120" cy="2194560"/>
          </a:xfrm>
          <a:prstGeom prst="roundRect">
            <a:avLst/>
          </a:prstGeom>
          <a:solidFill>
            <a:srgbClr val="12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35607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D423"/>
                </a:solidFill>
                <a:latin typeface="Aptos"/>
              </a:rPr>
              <a:t>02  •  PAY &amp; WORK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19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Full-time is 79.8% of postings; Contract is 9.6% and Part-time 7.9%.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Average salary is $95K across 11,651 valid salaries (values above $1M excluded).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Partner, surgeon and C-suite roles pay most ($515K-$925K); small-market averages are outliers.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75887"/>
            <a:ext cx="5532120" cy="2194560"/>
          </a:xfrm>
          <a:prstGeom prst="roundRect">
            <a:avLst/>
          </a:prstGeom>
          <a:solidFill>
            <a:srgbClr val="12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785615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D423"/>
                </a:solidFill>
                <a:latin typeface="Aptos"/>
              </a:rPr>
              <a:t>03  •  REMOTE &amp; JOB FAMILIES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24527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Only 12.2% of postings (4,892) allow remote work; Full-time adds 73% of them.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Engineering (4,764), Healthcare (3,818) and Sales (3,695) hold 52% of named-family demand.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Entry level dominates Engineering, while Tech &amp; Data leans Mid-Senior.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75887"/>
            <a:ext cx="5532120" cy="2194560"/>
          </a:xfrm>
          <a:prstGeom prst="roundRect">
            <a:avLst/>
          </a:prstGeom>
          <a:solidFill>
            <a:srgbClr val="123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785615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9D423"/>
                </a:solidFill>
                <a:latin typeface="Aptos"/>
              </a:rPr>
              <a:t>04  •  CANDIDATE INTEREST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24527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566,882 views and 78,710 applications: 13.9 applications per 100 views.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Tech &amp; Data converts best at 25.7 per 100 views (21.4K applications).</a:t>
            </a:r>
          </a:p>
          <a:p>
            <a:pPr>
              <a:spcAft>
                <a:spcPts val="600"/>
              </a:spcAft>
              <a:defRPr sz="900">
                <a:solidFill>
                  <a:srgbClr val="141626"/>
                </a:solidFill>
                <a:latin typeface="Aptos"/>
              </a:defRPr>
            </a:pPr>
            <a:r>
              <a:rPr sz="1300">
                <a:solidFill>
                  <a:srgbClr val="EAF2FB"/>
                </a:solidFill>
              </a:rPr>
              <a:t>• Education (4.6) and Healthcare (5.0) convert least, so their postings need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89320"/>
            <a:ext cx="11247120" cy="640080"/>
          </a:xfrm>
          <a:prstGeom prst="roundRect">
            <a:avLst/>
          </a:prstGeom>
          <a:solidFill>
            <a:srgbClr val="5BC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170860"/>
            <a:ext cx="17373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A1020"/>
                </a:solidFill>
                <a:latin typeface="Aptos"/>
              </a:rPr>
              <a:t>OVERALL 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6016973"/>
            <a:ext cx="92811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A2342"/>
                </a:solidFill>
                <a:latin typeface="Aptos"/>
              </a:rPr>
              <a:t>Recruiters should focus on high-demand cities (New York, Houston, Chicago) and job families (Engineering, Healthcare, Sales), and show salary and remote options to lift candidate conversion.</a:t>
            </a:r>
          </a:p>
        </p:txBody>
      </p:sp>
      <p:sp>
        <p:nvSpPr>
          <p:cNvPr id="24" name="Oval 2"/>
          <p:cNvSpPr/>
          <p:nvPr/>
        </p:nvSpPr>
        <p:spPr>
          <a:xfrm>
            <a:off x="457200" y="155448"/>
            <a:ext cx="777240" cy="777240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3"/>
          <p:cNvSpPr/>
          <p:nvPr/>
        </p:nvSpPr>
        <p:spPr>
          <a:xfrm>
            <a:off x="534924" y="233172"/>
            <a:ext cx="621792" cy="621792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4"/>
          <p:cNvSpPr/>
          <p:nvPr/>
        </p:nvSpPr>
        <p:spPr>
          <a:xfrm>
            <a:off x="612647" y="310896"/>
            <a:ext cx="466344" cy="466344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5"/>
          <p:cNvSpPr/>
          <p:nvPr/>
        </p:nvSpPr>
        <p:spPr>
          <a:xfrm>
            <a:off x="690372" y="388620"/>
            <a:ext cx="310895" cy="310895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6"/>
          <p:cNvSpPr/>
          <p:nvPr/>
        </p:nvSpPr>
        <p:spPr>
          <a:xfrm>
            <a:off x="768096" y="466344"/>
            <a:ext cx="155447" cy="155447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7"/>
          <p:cNvCxnSpPr/>
          <p:nvPr/>
        </p:nvCxnSpPr>
        <p:spPr>
          <a:xfrm flipV="1">
            <a:off x="845820" y="116586"/>
            <a:ext cx="388620" cy="427482"/>
          </a:xfrm>
          <a:prstGeom prst="line">
            <a:avLst/>
          </a:prstGeom>
          <a:ln w="38100">
            <a:solidFill>
              <a:srgbClr val="5BC0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EEFBA2-D2C5-483D-A977-8998D167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868680"/>
            <a:ext cx="6949440" cy="640080"/>
          </a:xfrm>
        </p:spPr>
        <p:txBody>
          <a:bodyPr/>
          <a:lstStyle/>
          <a:p>
            <a:pPr algn="l"/>
            <a:r>
              <a:rPr lang="en-US" sz="3000" dirty="0">
                <a:solidFill>
                  <a:srgbClr val="C07AF0"/>
                </a:solidFill>
              </a:rPr>
              <a:t>Questions &amp;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81328"/>
            <a:ext cx="68580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>
                <a:solidFill>
                  <a:srgbClr val="4AB1FE"/>
                </a:solidFill>
              </a:rPr>
              <a:t>Case study Stages 1-3 · Any questions?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141626"/>
          </a:solidFill>
          <a:ln>
            <a:solidFill>
              <a:srgbClr val="497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975104"/>
            <a:ext cx="649224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4970FF"/>
                </a:solidFill>
              </a:rPr>
              <a:t>STAGE 1 · BEGINNER</a:t>
            </a:r>
          </a:p>
          <a:p>
            <a:r>
              <a:rPr sz="1300" b="1">
                <a:solidFill>
                  <a:srgbClr val="ECF0FB"/>
                </a:solidFill>
              </a:rPr>
              <a:t>Q: Which roles, companies and cities hire the most?</a:t>
            </a:r>
          </a:p>
          <a:p>
            <a:r>
              <a:rPr sz="1200">
                <a:solidFill>
                  <a:srgbClr val="ECF0FB"/>
                </a:solidFill>
              </a:rPr>
              <a:t>A: Sales Manager is the top role (228 postings), Liberty Healthcare leads named companies (341) and New York leads cities (866).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10896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141626"/>
          </a:solidFill>
          <a:ln>
            <a:solidFill>
              <a:srgbClr val="00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163824"/>
            <a:ext cx="649224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0C4B6"/>
                </a:solidFill>
              </a:rPr>
              <a:t>STAGE 1 · BEGINNER</a:t>
            </a:r>
          </a:p>
          <a:p>
            <a:r>
              <a:rPr sz="1300" b="1">
                <a:solidFill>
                  <a:srgbClr val="ECF0FB"/>
                </a:solidFill>
              </a:rPr>
              <a:t>Q: How much salary and remote information is available?</a:t>
            </a:r>
          </a:p>
          <a:p>
            <a:r>
              <a:rPr sz="1200">
                <a:solidFill>
                  <a:srgbClr val="ECF0FB"/>
                </a:solidFill>
              </a:rPr>
              <a:t>A: Only 29.1% of postings show a valid salary and just 12.2% allow remote work, so most pay and work-mode details are missing.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29768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141626"/>
          </a:solidFill>
          <a:ln>
            <a:solidFill>
              <a:srgbClr val="9E2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4352544"/>
            <a:ext cx="649224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9E2FD5"/>
                </a:solidFill>
              </a:rPr>
              <a:t>STAGE 2 · INTERMEDIATE</a:t>
            </a:r>
          </a:p>
          <a:p>
            <a:r>
              <a:rPr sz="1300" b="1">
                <a:solidFill>
                  <a:srgbClr val="ECF0FB"/>
                </a:solidFill>
              </a:rPr>
              <a:t>Q: Who pays the most and who gets the most attention?</a:t>
            </a:r>
          </a:p>
          <a:p>
            <a:r>
              <a:rPr sz="1200">
                <a:solidFill>
                  <a:srgbClr val="ECF0FB"/>
                </a:solidFill>
              </a:rPr>
              <a:t>A: BigLaw Partner ($925K) tops average pay (values above $1M excluded). Cardone Ventures gets the most views among named companies (6,116); views and applies correlate at 0.54.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5486400"/>
            <a:ext cx="6858000" cy="1097280"/>
          </a:xfrm>
          <a:prstGeom prst="roundRect">
            <a:avLst>
              <a:gd name="adj" fmla="val 6000"/>
            </a:avLst>
          </a:prstGeom>
          <a:solidFill>
            <a:srgbClr val="141626"/>
          </a:solidFill>
          <a:ln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5541264"/>
            <a:ext cx="6492240" cy="9875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F2A541"/>
                </a:solidFill>
              </a:rPr>
              <a:t>STAGE 3 · ADVANCED</a:t>
            </a:r>
          </a:p>
          <a:p>
            <a:r>
              <a:rPr sz="1300" b="1">
                <a:solidFill>
                  <a:srgbClr val="ECF0FB"/>
                </a:solidFill>
              </a:rPr>
              <a:t>Q: What should recruiters do?</a:t>
            </a:r>
          </a:p>
          <a:p>
            <a:r>
              <a:rPr sz="1200">
                <a:solidFill>
                  <a:srgbClr val="ECF0FB"/>
                </a:solidFill>
              </a:rPr>
              <a:t>A: Focus on New York, Houston and Chicago, prioritise Engineering, Healthcare and Sales, and show salaries and remote options to lift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716496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7AF0"/>
                </a:solidFill>
              </a:rPr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rgbClr val="ECF0FB"/>
                </a:solidFill>
              </a:rPr>
              <a:t>Presented by: Siddique Amrin</a:t>
            </a:r>
          </a:p>
          <a:p>
            <a:r>
              <a:rPr lang="en-US" dirty="0">
                <a:solidFill>
                  <a:srgbClr val="ECF0FB"/>
                </a:solidFill>
              </a:rPr>
              <a:t>Job Market Analysis</a:t>
            </a:r>
          </a:p>
          <a:p>
            <a:r>
              <a:rPr lang="en-US" dirty="0">
                <a:solidFill>
                  <a:srgbClr val="ECF0FB"/>
                </a:solidFill>
              </a:rPr>
              <a:t>Excel Dashboard Course-End Project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C259BDD-35DF-471C-9AF0-85800486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ECF0FB"/>
                </a:solidFill>
              </a:rPr>
              <a:t>JOB MARKET ANALYSIS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D1FC6F8-0BCD-47E9-9C64-690771D9C1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6332EFB-A5F4-469F-9C70-AB8197068B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ECF0FB"/>
                </a:solidFill>
              </a:rPr>
              <a:t>October 4, 2026</a:t>
            </a:r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8A4BC3-D1CE-4BB2-9C42-D67FD92CA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1989D7-CF02-4DC5-9433-98B600ACA0D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C2B339A-BBCD-4BF4-A3FE-AE1F9B12F71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2458</Words>
  <Application>Microsoft Office PowerPoint</Application>
  <PresentationFormat>Widescreen</PresentationFormat>
  <Paragraphs>295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Arial Nova Light</vt:lpstr>
      <vt:lpstr>Calibri</vt:lpstr>
      <vt:lpstr>Courier New</vt:lpstr>
      <vt:lpstr>Dark Gradient</vt:lpstr>
      <vt:lpstr>Job Market Analysis</vt:lpstr>
      <vt:lpstr>Analyse Job Market Trends &amp; Workforce Demand (Recruitment Analytics)</vt:lpstr>
      <vt:lpstr>Project Flow (Methodology)</vt:lpstr>
      <vt:lpstr>DATASET INFORMATION</vt:lpstr>
      <vt:lpstr>BUSINESS OBJECTIVES &amp; TASKS</vt:lpstr>
      <vt:lpstr>OBJECTIVE 1 :- Evaluate Hiring Demand Across Companies, Locations and Experience Levels</vt:lpstr>
      <vt:lpstr>OBJECTIVE 1 :- Evaluate Hiring Demand Across Companies, Locations and Experience Levels</vt:lpstr>
      <vt:lpstr>OBJECTIVE 2 :- Analyze Salary Patterns, Remote Work and Job-Family Demand</vt:lpstr>
      <vt:lpstr>OBJECTIVE 2 :- Analyze Salary Patterns, Remote Work and Job-Family Demand</vt:lpstr>
      <vt:lpstr>OBJECTIVE 3 :- Compare Job Families on Experience, Candidate Interest and Demand Concentration</vt:lpstr>
      <vt:lpstr>OBJECTIVE 3 :- Compare Job Families on Experience, Candidate Interest and Demand Concentration</vt:lpstr>
      <vt:lpstr> Share of Postings by Work Type and Concentration of Demand by Job Family</vt:lpstr>
      <vt:lpstr>PowerPoint Presentation</vt:lpstr>
      <vt:lpstr>SUMMARY OF ALL 12 TASKS</vt:lpstr>
      <vt:lpstr>Key Highlights</vt:lpstr>
      <vt:lpstr>PROJECT CONCLUSION</vt:lpstr>
      <vt:lpstr>Questions &amp; Answers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Siddique Amrin</cp:lastModifiedBy>
  <cp:revision>5</cp:revision>
  <dcterms:created xsi:type="dcterms:W3CDTF">2026-10-03T19:00:52Z</dcterms:created>
  <dcterms:modified xsi:type="dcterms:W3CDTF">2026-10-11T13:35:14Z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